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49" r:id="rId16"/>
    <p:sldId id="350" r:id="rId100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2096" r:id="rIdAIH"/>
    <p:sldId id="348" r:id="rId9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100" Type="http://schemas.openxmlformats.org/officeDocument/2006/relationships/slide" Target="slides/slide95.xml"/><Relationship Id="rIdAIH" Type="http://schemas.openxmlformats.org/officeDocument/2006/relationships/slide" Target="slides/slide9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3"/>
          <p:cNvSpPr txBox="1"/>
          <p:nvPr/>
        </p:nvSpPr>
        <p:spPr>
          <a:xfrm>
            <a:off x="762000" y="2152650"/>
            <a:ext cx="10477500" cy="1238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/>
                <a:ea typeface="맑은 고딕"/>
              </a:rPr>
              <a:t>차별화 : 고객이 우리를 고르는 이유 만들기</a:t>
            </a:r>
          </a:p>
        </p:txBody>
      </p:sp>
      <p:sp>
        <p:nvSpPr>
          <p:cNvPr id="4" name="텍스트 4"/>
          <p:cNvSpPr txBox="1"/>
          <p:nvPr/>
        </p:nvSpPr>
        <p:spPr>
          <a:xfrm>
            <a:off x="762000" y="3486150"/>
            <a:ext cx="10477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C9D3E6"/>
                </a:solidFill>
                <a:latin typeface="맑은 고딕"/>
                <a:ea typeface="맑은 고딕"/>
              </a:rPr>
              <a:t>경쟁 속에서 ‘다르다’가 아니라 ‘선택할 이유’를 만드는 방법</a:t>
            </a:r>
          </a:p>
        </p:txBody>
      </p:sp>
      <p:sp>
        <p:nvSpPr>
          <p:cNvPr id="5" name="도형 5"/>
          <p:cNvSpPr/>
          <p:nvPr/>
        </p:nvSpPr>
        <p:spPr>
          <a:xfrm>
            <a:off x="762000" y="4191000"/>
            <a:ext cx="8572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762000" y="4400550"/>
            <a:ext cx="10477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lang="ko-KR" altLang="en-US" sz="1250" b="0" dirty="0">
                <a:solidFill>
                  <a:srgbClr val="9FB0CC"/>
                </a:solidFill>
                <a:latin typeface="맑은 고딕"/>
                <a:ea typeface="맑은 고딕"/>
              </a:rPr>
              <a:t>학습 방식 : 차별화의 원리 → 유형 → 찾는 방법 → 검증 → 설명하기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9FB0CC"/>
                </a:solidFill>
                <a:latin typeface="맑은 고딕"/>
                <a:ea typeface="맑은 고딕"/>
              </a:rPr>
              <a:t>대상 : 경쟁이 있는 시장에 들어가려는 예비창업자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차별화란?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고객이 ‘다른 곳이 아닌 우리를 고르는 이유’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09600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정의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666750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선택받는 이유</a:t>
            </a:r>
          </a:p>
        </p:txBody>
      </p:sp>
      <p:sp>
        <p:nvSpPr>
          <p:cNvPr id="10" name="텍스트 10"/>
          <p:cNvSpPr txBox="1"/>
          <p:nvPr/>
        </p:nvSpPr>
        <p:spPr>
          <a:xfrm>
            <a:off x="666750" y="2952750"/>
            <a:ext cx="2414588" cy="186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다른 대안과 구분되는 가치</a:t>
            </a:r>
          </a:p>
        </p:txBody>
      </p:sp>
      <p:sp>
        <p:nvSpPr>
          <p:cNvPr id="11" name="도형 11"/>
          <p:cNvSpPr/>
          <p:nvPr/>
        </p:nvSpPr>
        <p:spPr>
          <a:xfrm>
            <a:off x="3348038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348038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3348038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3424238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기준</a:t>
            </a:r>
          </a:p>
        </p:txBody>
      </p:sp>
      <p:sp>
        <p:nvSpPr>
          <p:cNvPr id="15" name="텍스트 15"/>
          <p:cNvSpPr txBox="1"/>
          <p:nvPr/>
        </p:nvSpPr>
        <p:spPr>
          <a:xfrm>
            <a:off x="3416073" y="1809750"/>
            <a:ext cx="2614612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고객이 느끼는 차이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3481388" y="2952750"/>
            <a:ext cx="2414588" cy="186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우리 생각이 </a:t>
            </a:r>
            <a:r>
              <a:rPr lang="ko-KR" altLang="en-US" sz="1500" b="0">
                <a:solidFill>
                  <a:srgbClr val="6B7A90"/>
                </a:solidFill>
                <a:latin typeface="맑은 고딕"/>
                <a:ea typeface="맑은 고딕"/>
              </a:rPr>
              <a:t>아닌 </a:t>
            </a:r>
            <a:endParaRPr lang="en-US" altLang="ko-KR" sz="1500" b="0">
              <a:solidFill>
                <a:srgbClr val="6B7A90"/>
              </a:solidFill>
              <a:latin typeface="맑은 고딕"/>
              <a:ea typeface="맑은 고딕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6B7A90"/>
                </a:solidFill>
                <a:latin typeface="맑은 고딕"/>
                <a:ea typeface="맑은 고딕"/>
              </a:rPr>
              <a:t>고객의 </a:t>
            </a: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기준</a:t>
            </a:r>
          </a:p>
        </p:txBody>
      </p:sp>
      <p:sp>
        <p:nvSpPr>
          <p:cNvPr id="17" name="도형 17"/>
          <p:cNvSpPr/>
          <p:nvPr/>
        </p:nvSpPr>
        <p:spPr>
          <a:xfrm>
            <a:off x="6162675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도형 18"/>
          <p:cNvSpPr/>
          <p:nvPr/>
        </p:nvSpPr>
        <p:spPr>
          <a:xfrm>
            <a:off x="6162675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6162675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6238875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방법</a:t>
            </a:r>
          </a:p>
        </p:txBody>
      </p:sp>
      <p:sp>
        <p:nvSpPr>
          <p:cNvPr id="21" name="텍스트 21"/>
          <p:cNvSpPr txBox="1"/>
          <p:nvPr/>
        </p:nvSpPr>
        <p:spPr>
          <a:xfrm>
            <a:off x="6296025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6가지 관점</a:t>
            </a:r>
          </a:p>
        </p:txBody>
      </p:sp>
      <p:sp>
        <p:nvSpPr>
          <p:cNvPr id="22" name="텍스트 22"/>
          <p:cNvSpPr txBox="1"/>
          <p:nvPr/>
        </p:nvSpPr>
        <p:spPr>
          <a:xfrm>
            <a:off x="6296025" y="2952750"/>
            <a:ext cx="2414588" cy="186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방식 · 제품 · 경험 </a:t>
            </a:r>
            <a:r>
              <a:rPr lang="ko-KR" altLang="en-US" sz="1500" b="0">
                <a:solidFill>
                  <a:srgbClr val="6B7A90"/>
                </a:solidFill>
                <a:latin typeface="맑은 고딕"/>
                <a:ea typeface="맑은 고딕"/>
              </a:rPr>
              <a:t>· </a:t>
            </a:r>
            <a:endParaRPr lang="en-US" altLang="ko-KR" sz="1500" b="0">
              <a:solidFill>
                <a:srgbClr val="6B7A90"/>
              </a:solidFill>
              <a:latin typeface="맑은 고딕"/>
              <a:ea typeface="맑은 고딕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6B7A90"/>
                </a:solidFill>
                <a:latin typeface="맑은 고딕"/>
                <a:ea typeface="맑은 고딕"/>
              </a:rPr>
              <a:t>사람 </a:t>
            </a: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· 신뢰 · 가치</a:t>
            </a:r>
          </a:p>
        </p:txBody>
      </p:sp>
      <p:sp>
        <p:nvSpPr>
          <p:cNvPr id="23" name="도형 23"/>
          <p:cNvSpPr/>
          <p:nvPr/>
        </p:nvSpPr>
        <p:spPr>
          <a:xfrm>
            <a:off x="8977313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8977313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도형 25"/>
          <p:cNvSpPr/>
          <p:nvPr/>
        </p:nvSpPr>
        <p:spPr>
          <a:xfrm>
            <a:off x="8977313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9053513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9110663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지속 가능성</a:t>
            </a:r>
          </a:p>
        </p:txBody>
      </p:sp>
      <p:sp>
        <p:nvSpPr>
          <p:cNvPr id="28" name="텍스트 28"/>
          <p:cNvSpPr txBox="1"/>
          <p:nvPr/>
        </p:nvSpPr>
        <p:spPr>
          <a:xfrm>
            <a:off x="9110663" y="2952750"/>
            <a:ext cx="2414588" cy="186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쉽게 따라 하기 어려워야 함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도형 30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텍스트 31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핵심 : 차별화는 ‘다르게’가 아니라 ‘고객에게 의미 있게 다르게’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 이론의 배경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어디서 나온 개념일까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3009900" y="1352550"/>
            <a:ext cx="95250" cy="78105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66750" y="13525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경쟁 전략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3295650" y="14192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1F2937"/>
                </a:solidFill>
                <a:latin typeface="맑은 고딕"/>
                <a:ea typeface="맑은 고딕"/>
              </a:rPr>
              <a:t>경쟁에서 이기려면 가격이 아닌 다른 가치를 만들어야 한다는 전략적 관점</a:t>
            </a:r>
          </a:p>
        </p:txBody>
      </p:sp>
      <p:sp>
        <p:nvSpPr>
          <p:cNvPr id="10" name="도형 10"/>
          <p:cNvSpPr/>
          <p:nvPr/>
        </p:nvSpPr>
        <p:spPr>
          <a:xfrm>
            <a:off x="533400" y="22288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533400" y="22288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009900" y="2228850"/>
            <a:ext cx="95250" cy="7810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텍스트 13"/>
          <p:cNvSpPr txBox="1"/>
          <p:nvPr/>
        </p:nvSpPr>
        <p:spPr>
          <a:xfrm>
            <a:off x="666750" y="22288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포지셔닝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3295650" y="22955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1F2937"/>
                </a:solidFill>
                <a:latin typeface="맑은 고딕"/>
                <a:ea typeface="맑은 고딕"/>
              </a:rPr>
              <a:t>고객의 머릿속에서 한 단어로 기억되는 자리를 차지하는 개념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31051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31051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도형 17"/>
          <p:cNvSpPr/>
          <p:nvPr/>
        </p:nvSpPr>
        <p:spPr>
          <a:xfrm>
            <a:off x="3009900" y="3105150"/>
            <a:ext cx="95250" cy="781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66750" y="31051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블루오션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295650" y="31718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1F2937"/>
                </a:solidFill>
                <a:latin typeface="맑은 고딕"/>
                <a:ea typeface="맑은 고딕"/>
              </a:rPr>
              <a:t>경쟁이 치열한 시장을 피해 새로운 가치를 만드는 접근</a:t>
            </a:r>
          </a:p>
        </p:txBody>
      </p:sp>
      <p:sp>
        <p:nvSpPr>
          <p:cNvPr id="20" name="도형 20"/>
          <p:cNvSpPr/>
          <p:nvPr/>
        </p:nvSpPr>
        <p:spPr>
          <a:xfrm>
            <a:off x="533400" y="39814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533400" y="39814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3009900" y="3981450"/>
            <a:ext cx="95250" cy="781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텍스트 23"/>
          <p:cNvSpPr txBox="1"/>
          <p:nvPr/>
        </p:nvSpPr>
        <p:spPr>
          <a:xfrm>
            <a:off x="666750" y="39814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경험 경제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3295650" y="40481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1F2937"/>
                </a:solidFill>
                <a:latin typeface="맑은 고딕"/>
                <a:ea typeface="맑은 고딕"/>
              </a:rPr>
              <a:t>제품 자체보다 구매·사용 경험이 차이를 만든다는 흐름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8577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도형 26"/>
          <p:cNvSpPr/>
          <p:nvPr/>
        </p:nvSpPr>
        <p:spPr>
          <a:xfrm>
            <a:off x="533400" y="48577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3009900" y="4857750"/>
            <a:ext cx="95250" cy="781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66750" y="48577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초기 창업자의 현실</a:t>
            </a:r>
          </a:p>
        </p:txBody>
      </p:sp>
      <p:sp>
        <p:nvSpPr>
          <p:cNvPr id="29" name="텍스트 29"/>
          <p:cNvSpPr txBox="1"/>
          <p:nvPr/>
        </p:nvSpPr>
        <p:spPr>
          <a:xfrm>
            <a:off x="3295650" y="49244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 dirty="0">
                <a:solidFill>
                  <a:srgbClr val="1F2937"/>
                </a:solidFill>
                <a:latin typeface="맑은 고딕"/>
                <a:ea typeface="맑은 고딕"/>
              </a:rPr>
              <a:t>자원이 적어 ‘한 가지를 깊이’ 차별화하는 방식이 효과적</a:t>
            </a:r>
          </a:p>
        </p:txBody>
      </p:sp>
      <p:sp>
        <p:nvSpPr>
          <p:cNvPr id="30" name="도형 30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여러 개를 조금씩보다 한 가지를 크게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 용어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카드를 읽기 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528455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33795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용어</a:t>
            </a:r>
          </a:p>
        </p:txBody>
      </p:sp>
      <p:sp>
        <p:nvSpPr>
          <p:cNvPr id="7" name="도형 7"/>
          <p:cNvSpPr/>
          <p:nvPr/>
        </p:nvSpPr>
        <p:spPr>
          <a:xfrm>
            <a:off x="3061855" y="1352550"/>
            <a:ext cx="480406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157105" y="1352550"/>
            <a:ext cx="461356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뜻</a:t>
            </a:r>
          </a:p>
        </p:txBody>
      </p:sp>
      <p:sp>
        <p:nvSpPr>
          <p:cNvPr id="9" name="도형 9"/>
          <p:cNvSpPr/>
          <p:nvPr/>
        </p:nvSpPr>
        <p:spPr>
          <a:xfrm>
            <a:off x="7865918" y="1352550"/>
            <a:ext cx="3792682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61168" y="1352550"/>
            <a:ext cx="3602182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528455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대안</a:t>
            </a:r>
          </a:p>
        </p:txBody>
      </p:sp>
      <p:sp>
        <p:nvSpPr>
          <p:cNvPr id="13" name="도형 13"/>
          <p:cNvSpPr/>
          <p:nvPr/>
        </p:nvSpPr>
        <p:spPr>
          <a:xfrm>
            <a:off x="3061855" y="1733550"/>
            <a:ext cx="4804064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3157105" y="1771650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우리 대신 선택할 수 있는 모든 것</a:t>
            </a:r>
          </a:p>
        </p:txBody>
      </p:sp>
      <p:sp>
        <p:nvSpPr>
          <p:cNvPr id="15" name="도형 15"/>
          <p:cNvSpPr/>
          <p:nvPr/>
        </p:nvSpPr>
        <p:spPr>
          <a:xfrm>
            <a:off x="7865918" y="1733550"/>
            <a:ext cx="3792682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61168" y="1771650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경쟁사 · 직접 하기 · 안 하기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291443"/>
            <a:ext cx="2528455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329543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가치 제안</a:t>
            </a:r>
          </a:p>
        </p:txBody>
      </p:sp>
      <p:sp>
        <p:nvSpPr>
          <p:cNvPr id="19" name="도형 19"/>
          <p:cNvSpPr/>
          <p:nvPr/>
        </p:nvSpPr>
        <p:spPr>
          <a:xfrm>
            <a:off x="3061855" y="2291443"/>
            <a:ext cx="4804064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3157105" y="2329543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고객에게 약속하는 핵심 이익</a:t>
            </a:r>
          </a:p>
        </p:txBody>
      </p:sp>
      <p:sp>
        <p:nvSpPr>
          <p:cNvPr id="21" name="도형 21"/>
          <p:cNvSpPr/>
          <p:nvPr/>
        </p:nvSpPr>
        <p:spPr>
          <a:xfrm>
            <a:off x="7865918" y="2291443"/>
            <a:ext cx="3792682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61168" y="2329543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‘줄 서지 않고 점심’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2849336"/>
            <a:ext cx="2528455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2887436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USP</a:t>
            </a:r>
          </a:p>
        </p:txBody>
      </p:sp>
      <p:sp>
        <p:nvSpPr>
          <p:cNvPr id="25" name="도형 25"/>
          <p:cNvSpPr/>
          <p:nvPr/>
        </p:nvSpPr>
        <p:spPr>
          <a:xfrm>
            <a:off x="3061855" y="2849336"/>
            <a:ext cx="4804064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3157105" y="2887436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우리만의 판매 포인트</a:t>
            </a:r>
          </a:p>
        </p:txBody>
      </p:sp>
      <p:sp>
        <p:nvSpPr>
          <p:cNvPr id="27" name="도형 27"/>
          <p:cNvSpPr/>
          <p:nvPr/>
        </p:nvSpPr>
        <p:spPr>
          <a:xfrm>
            <a:off x="7865918" y="2849336"/>
            <a:ext cx="3792682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61168" y="2887436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24시간 무료 상담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407229"/>
            <a:ext cx="2528455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445329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포지셔닝</a:t>
            </a:r>
          </a:p>
        </p:txBody>
      </p:sp>
      <p:sp>
        <p:nvSpPr>
          <p:cNvPr id="31" name="도형 31"/>
          <p:cNvSpPr/>
          <p:nvPr/>
        </p:nvSpPr>
        <p:spPr>
          <a:xfrm>
            <a:off x="3061855" y="3407229"/>
            <a:ext cx="4804064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3157105" y="3445329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시장에서의 위치와 이미지</a:t>
            </a:r>
          </a:p>
        </p:txBody>
      </p:sp>
      <p:sp>
        <p:nvSpPr>
          <p:cNvPr id="33" name="도형 33"/>
          <p:cNvSpPr/>
          <p:nvPr/>
        </p:nvSpPr>
        <p:spPr>
          <a:xfrm>
            <a:off x="7865918" y="3407229"/>
            <a:ext cx="3792682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61168" y="3445329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‘가장 믿을 수 있는’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3965121"/>
            <a:ext cx="2528455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003221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진입장벽</a:t>
            </a:r>
          </a:p>
        </p:txBody>
      </p:sp>
      <p:sp>
        <p:nvSpPr>
          <p:cNvPr id="37" name="도형 37"/>
          <p:cNvSpPr/>
          <p:nvPr/>
        </p:nvSpPr>
        <p:spPr>
          <a:xfrm>
            <a:off x="3061855" y="3965121"/>
            <a:ext cx="4804064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3157105" y="4003221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남이 따라오기 어렵게 만드는 요소</a:t>
            </a:r>
          </a:p>
        </p:txBody>
      </p:sp>
      <p:sp>
        <p:nvSpPr>
          <p:cNvPr id="39" name="도형 39"/>
          <p:cNvSpPr/>
          <p:nvPr/>
        </p:nvSpPr>
        <p:spPr>
          <a:xfrm>
            <a:off x="7865918" y="3965121"/>
            <a:ext cx="3792682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61168" y="4003221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독점 계약 · 기술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4523014"/>
            <a:ext cx="2528455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4561114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전환 비용</a:t>
            </a:r>
          </a:p>
        </p:txBody>
      </p:sp>
      <p:sp>
        <p:nvSpPr>
          <p:cNvPr id="43" name="도형 43"/>
          <p:cNvSpPr/>
          <p:nvPr/>
        </p:nvSpPr>
        <p:spPr>
          <a:xfrm>
            <a:off x="3061855" y="4523014"/>
            <a:ext cx="4804064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3157105" y="4561114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다른 곳으로 옮기기 어려운 정도</a:t>
            </a:r>
          </a:p>
        </p:txBody>
      </p:sp>
      <p:sp>
        <p:nvSpPr>
          <p:cNvPr id="45" name="도형 45"/>
          <p:cNvSpPr/>
          <p:nvPr/>
        </p:nvSpPr>
        <p:spPr>
          <a:xfrm>
            <a:off x="7865918" y="4523014"/>
            <a:ext cx="3792682" cy="55789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61168" y="4561114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기록·습관·할인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080907"/>
            <a:ext cx="2528455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119007"/>
            <a:ext cx="2337955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가치 곡선</a:t>
            </a:r>
          </a:p>
        </p:txBody>
      </p:sp>
      <p:sp>
        <p:nvSpPr>
          <p:cNvPr id="49" name="도형 49"/>
          <p:cNvSpPr/>
          <p:nvPr/>
        </p:nvSpPr>
        <p:spPr>
          <a:xfrm>
            <a:off x="3061855" y="5080907"/>
            <a:ext cx="4804064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3157105" y="5119007"/>
            <a:ext cx="4613564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항목별 우리와 경쟁사의 수준 비교</a:t>
            </a:r>
          </a:p>
        </p:txBody>
      </p:sp>
      <p:sp>
        <p:nvSpPr>
          <p:cNvPr id="51" name="도형 51"/>
          <p:cNvSpPr/>
          <p:nvPr/>
        </p:nvSpPr>
        <p:spPr>
          <a:xfrm>
            <a:off x="7865918" y="5080907"/>
            <a:ext cx="3792682" cy="55789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61168" y="5119007"/>
            <a:ext cx="3602182" cy="48169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가격 낮음 · 편의 높음</a:t>
            </a:r>
          </a:p>
        </p:txBody>
      </p:sp>
      <p:sp>
        <p:nvSpPr>
          <p:cNvPr id="53" name="도형 53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4" name="텍스트 54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차별화는 비교에서 시작함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차별화가 필요한 이유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비슷하면 가격으로만 싸우게 됨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09600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이유 1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666750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가격 경쟁 탈출</a:t>
            </a:r>
          </a:p>
        </p:txBody>
      </p:sp>
      <p:sp>
        <p:nvSpPr>
          <p:cNvPr id="10" name="텍스트 10"/>
          <p:cNvSpPr txBox="1"/>
          <p:nvPr/>
        </p:nvSpPr>
        <p:spPr>
          <a:xfrm>
            <a:off x="666750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비교 기준을 바꿈</a:t>
            </a:r>
          </a:p>
        </p:txBody>
      </p:sp>
      <p:sp>
        <p:nvSpPr>
          <p:cNvPr id="11" name="텍스트 11"/>
          <p:cNvSpPr txBox="1"/>
          <p:nvPr/>
        </p:nvSpPr>
        <p:spPr>
          <a:xfrm>
            <a:off x="647700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신선도</a:t>
            </a:r>
          </a:p>
        </p:txBody>
      </p:sp>
      <p:sp>
        <p:nvSpPr>
          <p:cNvPr id="12" name="도형 12"/>
          <p:cNvSpPr/>
          <p:nvPr/>
        </p:nvSpPr>
        <p:spPr>
          <a:xfrm>
            <a:off x="3348038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3348038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3348038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3424238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이유 2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3481388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선택의 이유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3481388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고객이 우리를 고르는 근거</a:t>
            </a:r>
          </a:p>
        </p:txBody>
      </p:sp>
      <p:sp>
        <p:nvSpPr>
          <p:cNvPr id="18" name="텍스트 18"/>
          <p:cNvSpPr txBox="1"/>
          <p:nvPr/>
        </p:nvSpPr>
        <p:spPr>
          <a:xfrm>
            <a:off x="3462338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10분 배송</a:t>
            </a:r>
          </a:p>
        </p:txBody>
      </p:sp>
      <p:sp>
        <p:nvSpPr>
          <p:cNvPr id="19" name="도형 19"/>
          <p:cNvSpPr/>
          <p:nvPr/>
        </p:nvSpPr>
        <p:spPr>
          <a:xfrm>
            <a:off x="6162675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6162675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6162675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238875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이유 3</a:t>
            </a:r>
          </a:p>
        </p:txBody>
      </p:sp>
      <p:sp>
        <p:nvSpPr>
          <p:cNvPr id="23" name="텍스트 23"/>
          <p:cNvSpPr txBox="1"/>
          <p:nvPr/>
        </p:nvSpPr>
        <p:spPr>
          <a:xfrm>
            <a:off x="6296025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홍보가 쉬워짐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6296025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한 문장 메시지</a:t>
            </a:r>
          </a:p>
        </p:txBody>
      </p:sp>
      <p:sp>
        <p:nvSpPr>
          <p:cNvPr id="25" name="텍스트 25"/>
          <p:cNvSpPr txBox="1"/>
          <p:nvPr/>
        </p:nvSpPr>
        <p:spPr>
          <a:xfrm>
            <a:off x="6276975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첫 번째 특징</a:t>
            </a:r>
          </a:p>
        </p:txBody>
      </p:sp>
      <p:sp>
        <p:nvSpPr>
          <p:cNvPr id="26" name="도형 26"/>
          <p:cNvSpPr/>
          <p:nvPr/>
        </p:nvSpPr>
        <p:spPr>
          <a:xfrm>
            <a:off x="8977313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8977313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도형 28"/>
          <p:cNvSpPr/>
          <p:nvPr/>
        </p:nvSpPr>
        <p:spPr>
          <a:xfrm>
            <a:off x="8977313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텍스트 29"/>
          <p:cNvSpPr txBox="1"/>
          <p:nvPr/>
        </p:nvSpPr>
        <p:spPr>
          <a:xfrm>
            <a:off x="9053513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이유 4</a:t>
            </a:r>
          </a:p>
        </p:txBody>
      </p:sp>
      <p:sp>
        <p:nvSpPr>
          <p:cNvPr id="30" name="텍스트 30"/>
          <p:cNvSpPr txBox="1"/>
          <p:nvPr/>
        </p:nvSpPr>
        <p:spPr>
          <a:xfrm>
            <a:off x="9110663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투자·평가 설득</a:t>
            </a:r>
          </a:p>
        </p:txBody>
      </p:sp>
      <p:sp>
        <p:nvSpPr>
          <p:cNvPr id="31" name="텍스트 31"/>
          <p:cNvSpPr txBox="1"/>
          <p:nvPr/>
        </p:nvSpPr>
        <p:spPr>
          <a:xfrm>
            <a:off x="9110663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시장에서 살아남는 근거</a:t>
            </a:r>
          </a:p>
        </p:txBody>
      </p:sp>
      <p:sp>
        <p:nvSpPr>
          <p:cNvPr id="32" name="텍스트 32"/>
          <p:cNvSpPr txBox="1"/>
          <p:nvPr/>
        </p:nvSpPr>
        <p:spPr>
          <a:xfrm>
            <a:off x="9091613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경쟁 비교표</a:t>
            </a:r>
          </a:p>
        </p:txBody>
      </p:sp>
      <p:sp>
        <p:nvSpPr>
          <p:cNvPr id="33" name="도형 33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도형 34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5" name="텍스트 35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핵심 : 차별화는 ‘남과 다름’이 아니라 ‘고객에게 중요한 다름’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차별화의 6가지 방향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어디에서 다를 수 있을까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1775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272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방향</a:t>
            </a:r>
          </a:p>
        </p:txBody>
      </p:sp>
      <p:sp>
        <p:nvSpPr>
          <p:cNvPr id="7" name="도형 7"/>
          <p:cNvSpPr/>
          <p:nvPr/>
        </p:nvSpPr>
        <p:spPr>
          <a:xfrm>
            <a:off x="2851150" y="1352550"/>
            <a:ext cx="3013075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46400" y="1352550"/>
            <a:ext cx="282257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</a:p>
        </p:txBody>
      </p:sp>
      <p:sp>
        <p:nvSpPr>
          <p:cNvPr id="9" name="도형 9"/>
          <p:cNvSpPr/>
          <p:nvPr/>
        </p:nvSpPr>
        <p:spPr>
          <a:xfrm>
            <a:off x="5864225" y="1352550"/>
            <a:ext cx="278130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5959475" y="1352550"/>
            <a:ext cx="2590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</a:p>
        </p:txBody>
      </p:sp>
      <p:sp>
        <p:nvSpPr>
          <p:cNvPr id="11" name="도형 11"/>
          <p:cNvSpPr/>
          <p:nvPr/>
        </p:nvSpPr>
        <p:spPr>
          <a:xfrm>
            <a:off x="8645525" y="1352550"/>
            <a:ext cx="3013075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8740775" y="1352550"/>
            <a:ext cx="282257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점검 질문</a:t>
            </a:r>
          </a:p>
        </p:txBody>
      </p:sp>
      <p:sp>
        <p:nvSpPr>
          <p:cNvPr id="13" name="도형 13"/>
          <p:cNvSpPr/>
          <p:nvPr/>
        </p:nvSpPr>
        <p:spPr>
          <a:xfrm>
            <a:off x="533400" y="1733550"/>
            <a:ext cx="231775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628650" y="1771650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가치·가격</a:t>
            </a:r>
          </a:p>
        </p:txBody>
      </p:sp>
      <p:sp>
        <p:nvSpPr>
          <p:cNvPr id="15" name="도형 15"/>
          <p:cNvSpPr/>
          <p:nvPr/>
        </p:nvSpPr>
        <p:spPr>
          <a:xfrm>
            <a:off x="2851150" y="1733550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2946400" y="1771650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더 낮은 비용·더 큰 가치</a:t>
            </a:r>
          </a:p>
        </p:txBody>
      </p:sp>
      <p:sp>
        <p:nvSpPr>
          <p:cNvPr id="17" name="도형 17"/>
          <p:cNvSpPr/>
          <p:nvPr/>
        </p:nvSpPr>
        <p:spPr>
          <a:xfrm>
            <a:off x="5864225" y="1733550"/>
            <a:ext cx="278130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5959475" y="1771650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구독 할인</a:t>
            </a:r>
          </a:p>
        </p:txBody>
      </p:sp>
      <p:sp>
        <p:nvSpPr>
          <p:cNvPr id="19" name="도형 19"/>
          <p:cNvSpPr/>
          <p:nvPr/>
        </p:nvSpPr>
        <p:spPr>
          <a:xfrm>
            <a:off x="8645525" y="1733550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8740775" y="1771650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원가로 감당 가능한가</a:t>
            </a:r>
          </a:p>
        </p:txBody>
      </p:sp>
      <p:sp>
        <p:nvSpPr>
          <p:cNvPr id="21" name="도형 21"/>
          <p:cNvSpPr/>
          <p:nvPr/>
        </p:nvSpPr>
        <p:spPr>
          <a:xfrm>
            <a:off x="533400" y="2382647"/>
            <a:ext cx="231775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28650" y="2420747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방식·채널</a:t>
            </a:r>
          </a:p>
        </p:txBody>
      </p:sp>
      <p:sp>
        <p:nvSpPr>
          <p:cNvPr id="23" name="도형 23"/>
          <p:cNvSpPr/>
          <p:nvPr/>
        </p:nvSpPr>
        <p:spPr>
          <a:xfrm>
            <a:off x="2851150" y="2382647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2946400" y="2420747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다른 방법으로 전달</a:t>
            </a:r>
          </a:p>
        </p:txBody>
      </p:sp>
      <p:sp>
        <p:nvSpPr>
          <p:cNvPr id="25" name="도형 25"/>
          <p:cNvSpPr/>
          <p:nvPr/>
        </p:nvSpPr>
        <p:spPr>
          <a:xfrm>
            <a:off x="5864225" y="2382647"/>
            <a:ext cx="278130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5959475" y="2420747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사무실 직접 배송</a:t>
            </a:r>
          </a:p>
        </p:txBody>
      </p:sp>
      <p:sp>
        <p:nvSpPr>
          <p:cNvPr id="27" name="도형 27"/>
          <p:cNvSpPr/>
          <p:nvPr/>
        </p:nvSpPr>
        <p:spPr>
          <a:xfrm>
            <a:off x="8645525" y="2382647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8740775" y="2420747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있는 곳인가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031744"/>
            <a:ext cx="231775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069844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사용 경험</a:t>
            </a:r>
          </a:p>
        </p:txBody>
      </p:sp>
      <p:sp>
        <p:nvSpPr>
          <p:cNvPr id="31" name="도형 31"/>
          <p:cNvSpPr/>
          <p:nvPr/>
        </p:nvSpPr>
        <p:spPr>
          <a:xfrm>
            <a:off x="2851150" y="3031744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46400" y="3069844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더 쉽고 즐거움</a:t>
            </a:r>
          </a:p>
        </p:txBody>
      </p:sp>
      <p:sp>
        <p:nvSpPr>
          <p:cNvPr id="33" name="도형 33"/>
          <p:cNvSpPr/>
          <p:nvPr/>
        </p:nvSpPr>
        <p:spPr>
          <a:xfrm>
            <a:off x="5864225" y="3031744"/>
            <a:ext cx="278130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5959475" y="3069844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3번 클릭 주문</a:t>
            </a:r>
          </a:p>
        </p:txBody>
      </p:sp>
      <p:sp>
        <p:nvSpPr>
          <p:cNvPr id="35" name="도형 35"/>
          <p:cNvSpPr/>
          <p:nvPr/>
        </p:nvSpPr>
        <p:spPr>
          <a:xfrm>
            <a:off x="8645525" y="3031744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8740775" y="3069844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측정할 수 있나</a:t>
            </a:r>
          </a:p>
        </p:txBody>
      </p:sp>
      <p:sp>
        <p:nvSpPr>
          <p:cNvPr id="37" name="도형 37"/>
          <p:cNvSpPr/>
          <p:nvPr/>
        </p:nvSpPr>
        <p:spPr>
          <a:xfrm>
            <a:off x="533400" y="3680841"/>
            <a:ext cx="231775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628650" y="3718941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사람·관계</a:t>
            </a:r>
          </a:p>
        </p:txBody>
      </p:sp>
      <p:sp>
        <p:nvSpPr>
          <p:cNvPr id="39" name="도형 39"/>
          <p:cNvSpPr/>
          <p:nvPr/>
        </p:nvSpPr>
        <p:spPr>
          <a:xfrm>
            <a:off x="2851150" y="3680841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2946400" y="3718941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서비스·커뮤니티</a:t>
            </a:r>
          </a:p>
        </p:txBody>
      </p:sp>
      <p:sp>
        <p:nvSpPr>
          <p:cNvPr id="41" name="도형 41"/>
          <p:cNvSpPr/>
          <p:nvPr/>
        </p:nvSpPr>
        <p:spPr>
          <a:xfrm>
            <a:off x="5864225" y="3680841"/>
            <a:ext cx="278130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5959475" y="3718941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전담 상담</a:t>
            </a:r>
          </a:p>
        </p:txBody>
      </p:sp>
      <p:sp>
        <p:nvSpPr>
          <p:cNvPr id="43" name="도형 43"/>
          <p:cNvSpPr/>
          <p:nvPr/>
        </p:nvSpPr>
        <p:spPr>
          <a:xfrm>
            <a:off x="8645525" y="3680841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8740775" y="3718941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확장해도 유지되나</a:t>
            </a:r>
          </a:p>
        </p:txBody>
      </p:sp>
      <p:sp>
        <p:nvSpPr>
          <p:cNvPr id="45" name="도형 45"/>
          <p:cNvSpPr/>
          <p:nvPr/>
        </p:nvSpPr>
        <p:spPr>
          <a:xfrm>
            <a:off x="533400" y="4329938"/>
            <a:ext cx="231775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628650" y="4368038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제품·구성</a:t>
            </a:r>
          </a:p>
        </p:txBody>
      </p:sp>
      <p:sp>
        <p:nvSpPr>
          <p:cNvPr id="47" name="도형 47"/>
          <p:cNvSpPr/>
          <p:nvPr/>
        </p:nvSpPr>
        <p:spPr>
          <a:xfrm>
            <a:off x="2851150" y="4329938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2946400" y="4368038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구성·품질·기능</a:t>
            </a:r>
          </a:p>
        </p:txBody>
      </p:sp>
      <p:sp>
        <p:nvSpPr>
          <p:cNvPr id="49" name="도형 49"/>
          <p:cNvSpPr/>
          <p:nvPr/>
        </p:nvSpPr>
        <p:spPr>
          <a:xfrm>
            <a:off x="5864225" y="4329938"/>
            <a:ext cx="278130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5959475" y="4368038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소포장 세트</a:t>
            </a:r>
          </a:p>
        </p:txBody>
      </p:sp>
      <p:sp>
        <p:nvSpPr>
          <p:cNvPr id="51" name="도형 51"/>
          <p:cNvSpPr/>
          <p:nvPr/>
        </p:nvSpPr>
        <p:spPr>
          <a:xfrm>
            <a:off x="8645525" y="4329938"/>
            <a:ext cx="301307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8740775" y="4368038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모방이 쉬운가</a:t>
            </a:r>
          </a:p>
        </p:txBody>
      </p:sp>
      <p:sp>
        <p:nvSpPr>
          <p:cNvPr id="53" name="도형 53"/>
          <p:cNvSpPr/>
          <p:nvPr/>
        </p:nvSpPr>
        <p:spPr>
          <a:xfrm>
            <a:off x="533400" y="4979035"/>
            <a:ext cx="231775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4" name="텍스트 54"/>
          <p:cNvSpPr txBox="1"/>
          <p:nvPr/>
        </p:nvSpPr>
        <p:spPr>
          <a:xfrm>
            <a:off x="628650" y="5017135"/>
            <a:ext cx="212725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신뢰·기술</a:t>
            </a:r>
          </a:p>
        </p:txBody>
      </p:sp>
      <p:sp>
        <p:nvSpPr>
          <p:cNvPr id="55" name="도형 55"/>
          <p:cNvSpPr/>
          <p:nvPr/>
        </p:nvSpPr>
        <p:spPr>
          <a:xfrm>
            <a:off x="2851150" y="4979035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6" name="텍스트 56"/>
          <p:cNvSpPr txBox="1"/>
          <p:nvPr/>
        </p:nvSpPr>
        <p:spPr>
          <a:xfrm>
            <a:off x="2946400" y="5017135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인증·특허·데이터</a:t>
            </a:r>
          </a:p>
        </p:txBody>
      </p:sp>
      <p:sp>
        <p:nvSpPr>
          <p:cNvPr id="57" name="도형 57"/>
          <p:cNvSpPr/>
          <p:nvPr/>
        </p:nvSpPr>
        <p:spPr>
          <a:xfrm>
            <a:off x="5864225" y="4979035"/>
            <a:ext cx="2781300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8" name="텍스트 58"/>
          <p:cNvSpPr txBox="1"/>
          <p:nvPr/>
        </p:nvSpPr>
        <p:spPr>
          <a:xfrm>
            <a:off x="5959475" y="5017135"/>
            <a:ext cx="259080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검증된 인증</a:t>
            </a:r>
          </a:p>
        </p:txBody>
      </p:sp>
      <p:sp>
        <p:nvSpPr>
          <p:cNvPr id="59" name="도형 59"/>
          <p:cNvSpPr/>
          <p:nvPr/>
        </p:nvSpPr>
        <p:spPr>
          <a:xfrm>
            <a:off x="8645525" y="4979035"/>
            <a:ext cx="301307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0" name="텍스트 60"/>
          <p:cNvSpPr txBox="1"/>
          <p:nvPr/>
        </p:nvSpPr>
        <p:spPr>
          <a:xfrm>
            <a:off x="8740775" y="5017135"/>
            <a:ext cx="282257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증빙이 있는가</a:t>
            </a:r>
          </a:p>
        </p:txBody>
      </p:sp>
      <p:sp>
        <p:nvSpPr>
          <p:cNvPr id="61" name="도형 61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2" name="텍스트 62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하나의 방향에서 ‘확실히’ 다르게 시작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진짜 차별화 vs 가짜 차별화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고객이 느끼지 못하면 차별화가 아님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5448300" cy="4286250"/>
          </a:xfrm>
          <a:prstGeom prst="roundRect">
            <a:avLst>
              <a:gd name="adj" fmla="val 1333"/>
            </a:avLst>
          </a:prstGeom>
          <a:solidFill>
            <a:srgbClr val="FDECEA"/>
          </a:solidFill>
          <a:ln w="15240">
            <a:solidFill>
              <a:srgbClr val="C0392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5448300" cy="361950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43050"/>
            <a:ext cx="5448300" cy="1714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85800" y="1352550"/>
            <a:ext cx="51435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  <a:ea typeface="맑은 고딕"/>
              </a:rPr>
              <a:t>가짜 차별화</a:t>
            </a:r>
          </a:p>
        </p:txBody>
      </p:sp>
      <p:sp>
        <p:nvSpPr>
          <p:cNvPr id="9" name="도형 9"/>
          <p:cNvSpPr/>
          <p:nvPr/>
        </p:nvSpPr>
        <p:spPr>
          <a:xfrm>
            <a:off x="6210300" y="1352550"/>
            <a:ext cx="5448300" cy="4286250"/>
          </a:xfrm>
          <a:prstGeom prst="roundRect">
            <a:avLst>
              <a:gd name="adj" fmla="val 1333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6210300" y="1352550"/>
            <a:ext cx="5448300" cy="361950"/>
          </a:xfrm>
          <a:prstGeom prst="roundRect">
            <a:avLst>
              <a:gd name="adj" fmla="val 15789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6210300" y="1543050"/>
            <a:ext cx="5448300" cy="1714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362700" y="1352550"/>
            <a:ext cx="51435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  <a:ea typeface="맑은 고딕"/>
              </a:rPr>
              <a:t>진짜 차별화</a:t>
            </a:r>
          </a:p>
        </p:txBody>
      </p:sp>
      <p:sp>
        <p:nvSpPr>
          <p:cNvPr id="13" name="텍스트 13"/>
          <p:cNvSpPr txBox="1"/>
          <p:nvPr/>
        </p:nvSpPr>
        <p:spPr>
          <a:xfrm>
            <a:off x="723900" y="1847850"/>
            <a:ext cx="5067300" cy="3695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“우리는 품질이 높습니다” (근거 없음)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중요하게 보지 않는 특징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경쟁사가 곧바로 따라 할 수 있음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여러 가지를 조금씩 다르게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만드는 사람 입장의 특징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6400800" y="1847850"/>
            <a:ext cx="5067300" cy="3695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고객이 중요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하게 보는 기준에서 앞섬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증거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(숫자·후기·인증)가 있음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따라 하기 </a:t>
            </a: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어렵거나 오래 걸림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한 가지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가 확실히 다름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고객의 </a:t>
            </a: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언어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로 설명됨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텍스트 17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경쟁사에 없는 것이 아니라 ‘고객이 원하는데 경쟁사가 못 주는 것’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차별점을 찾는 순서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경쟁을 보고 고객을 다시 보기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09600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666750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대안 조사</a:t>
            </a:r>
          </a:p>
        </p:txBody>
      </p:sp>
      <p:sp>
        <p:nvSpPr>
          <p:cNvPr id="10" name="텍스트 10"/>
          <p:cNvSpPr txBox="1"/>
          <p:nvPr/>
        </p:nvSpPr>
        <p:spPr>
          <a:xfrm>
            <a:off x="666750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경쟁사·임시방편 목록</a:t>
            </a:r>
          </a:p>
        </p:txBody>
      </p:sp>
      <p:sp>
        <p:nvSpPr>
          <p:cNvPr id="11" name="텍스트 11"/>
          <p:cNvSpPr txBox="1"/>
          <p:nvPr/>
        </p:nvSpPr>
        <p:spPr>
          <a:xfrm>
            <a:off x="647700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5곳</a:t>
            </a:r>
          </a:p>
        </p:txBody>
      </p:sp>
      <p:sp>
        <p:nvSpPr>
          <p:cNvPr id="12" name="텍스트 12"/>
          <p:cNvSpPr txBox="1"/>
          <p:nvPr/>
        </p:nvSpPr>
        <p:spPr>
          <a:xfrm>
            <a:off x="3095625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3" name="도형 13"/>
          <p:cNvSpPr/>
          <p:nvPr/>
        </p:nvSpPr>
        <p:spPr>
          <a:xfrm>
            <a:off x="3400425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3400425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도형 15"/>
          <p:cNvSpPr/>
          <p:nvPr/>
        </p:nvSpPr>
        <p:spPr>
          <a:xfrm>
            <a:off x="3400425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3476625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3533775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고객 기준 파악</a:t>
            </a:r>
          </a:p>
        </p:txBody>
      </p:sp>
      <p:sp>
        <p:nvSpPr>
          <p:cNvPr id="18" name="텍스트 18"/>
          <p:cNvSpPr txBox="1"/>
          <p:nvPr/>
        </p:nvSpPr>
        <p:spPr>
          <a:xfrm>
            <a:off x="3533775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고객이 중요하게 보는 항목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514725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인터뷰</a:t>
            </a:r>
          </a:p>
        </p:txBody>
      </p:sp>
      <p:sp>
        <p:nvSpPr>
          <p:cNvPr id="20" name="텍스트 20"/>
          <p:cNvSpPr txBox="1"/>
          <p:nvPr/>
        </p:nvSpPr>
        <p:spPr>
          <a:xfrm>
            <a:off x="5962650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1" name="도형 21"/>
          <p:cNvSpPr/>
          <p:nvPr/>
        </p:nvSpPr>
        <p:spPr>
          <a:xfrm>
            <a:off x="6267450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6267450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67450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343650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5" name="텍스트 25"/>
          <p:cNvSpPr txBox="1"/>
          <p:nvPr/>
        </p:nvSpPr>
        <p:spPr>
          <a:xfrm>
            <a:off x="6400800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비교표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400800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항목별 우리 vs 경쟁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81750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점수화</a:t>
            </a:r>
          </a:p>
        </p:txBody>
      </p:sp>
      <p:sp>
        <p:nvSpPr>
          <p:cNvPr id="28" name="텍스트 28"/>
          <p:cNvSpPr txBox="1"/>
          <p:nvPr/>
        </p:nvSpPr>
        <p:spPr>
          <a:xfrm>
            <a:off x="8829675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9" name="도형 29"/>
          <p:cNvSpPr/>
          <p:nvPr/>
        </p:nvSpPr>
        <p:spPr>
          <a:xfrm>
            <a:off x="9134475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도형 30"/>
          <p:cNvSpPr/>
          <p:nvPr/>
        </p:nvSpPr>
        <p:spPr>
          <a:xfrm>
            <a:off x="9134475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9134475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9210675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3" name="텍스트 33"/>
          <p:cNvSpPr txBox="1"/>
          <p:nvPr/>
        </p:nvSpPr>
        <p:spPr>
          <a:xfrm>
            <a:off x="9267825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빈자리 찾기</a:t>
            </a:r>
          </a:p>
        </p:txBody>
      </p:sp>
      <p:sp>
        <p:nvSpPr>
          <p:cNvPr id="34" name="텍스트 34"/>
          <p:cNvSpPr txBox="1"/>
          <p:nvPr/>
        </p:nvSpPr>
        <p:spPr>
          <a:xfrm>
            <a:off x="9267825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경쟁사가 약한 곳</a:t>
            </a:r>
          </a:p>
        </p:txBody>
      </p:sp>
      <p:sp>
        <p:nvSpPr>
          <p:cNvPr id="35" name="텍스트 35"/>
          <p:cNvSpPr txBox="1"/>
          <p:nvPr/>
        </p:nvSpPr>
        <p:spPr>
          <a:xfrm>
            <a:off x="9248775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기회</a:t>
            </a:r>
          </a:p>
        </p:txBody>
      </p:sp>
      <p:sp>
        <p:nvSpPr>
          <p:cNvPr id="36" name="도형 36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7" name="도형 37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고객이 중요하다고 말하는 기준 중 경쟁사가 약한 곳이 기회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가치 곡선 비교표 예시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1~5점으로 항목별 비교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61769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42719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항목</a:t>
            </a:r>
          </a:p>
        </p:txBody>
      </p:sp>
      <p:sp>
        <p:nvSpPr>
          <p:cNvPr id="7" name="도형 7"/>
          <p:cNvSpPr/>
          <p:nvPr/>
        </p:nvSpPr>
        <p:spPr>
          <a:xfrm>
            <a:off x="3151094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246344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경쟁 A</a:t>
            </a:r>
          </a:p>
        </p:txBody>
      </p:sp>
      <p:sp>
        <p:nvSpPr>
          <p:cNvPr id="9" name="도형 9"/>
          <p:cNvSpPr/>
          <p:nvPr/>
        </p:nvSpPr>
        <p:spPr>
          <a:xfrm>
            <a:off x="5114365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5209615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경쟁 B</a:t>
            </a:r>
          </a:p>
        </p:txBody>
      </p:sp>
      <p:sp>
        <p:nvSpPr>
          <p:cNvPr id="11" name="도형 11"/>
          <p:cNvSpPr/>
          <p:nvPr/>
        </p:nvSpPr>
        <p:spPr>
          <a:xfrm>
            <a:off x="7077635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7172885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우리</a:t>
            </a:r>
          </a:p>
        </p:txBody>
      </p:sp>
      <p:sp>
        <p:nvSpPr>
          <p:cNvPr id="13" name="도형 13"/>
          <p:cNvSpPr/>
          <p:nvPr/>
        </p:nvSpPr>
        <p:spPr>
          <a:xfrm>
            <a:off x="9040906" y="1352550"/>
            <a:ext cx="261769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9136156" y="1352550"/>
            <a:ext cx="242719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차이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1733550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628650" y="1771650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가격</a:t>
            </a:r>
          </a:p>
        </p:txBody>
      </p:sp>
      <p:sp>
        <p:nvSpPr>
          <p:cNvPr id="17" name="도형 17"/>
          <p:cNvSpPr/>
          <p:nvPr/>
        </p:nvSpPr>
        <p:spPr>
          <a:xfrm>
            <a:off x="3151094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3246344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도형 19"/>
          <p:cNvSpPr/>
          <p:nvPr/>
        </p:nvSpPr>
        <p:spPr>
          <a:xfrm>
            <a:off x="5114365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5209615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" name="도형 21"/>
          <p:cNvSpPr/>
          <p:nvPr/>
        </p:nvSpPr>
        <p:spPr>
          <a:xfrm>
            <a:off x="7077635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172885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3" name="도형 23"/>
          <p:cNvSpPr/>
          <p:nvPr/>
        </p:nvSpPr>
        <p:spPr>
          <a:xfrm>
            <a:off x="9040906" y="1733550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9136156" y="1771650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비슷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2382647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628650" y="2420747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신선도</a:t>
            </a:r>
          </a:p>
        </p:txBody>
      </p:sp>
      <p:sp>
        <p:nvSpPr>
          <p:cNvPr id="27" name="도형 27"/>
          <p:cNvSpPr/>
          <p:nvPr/>
        </p:nvSpPr>
        <p:spPr>
          <a:xfrm>
            <a:off x="3151094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3246344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도형 29"/>
          <p:cNvSpPr/>
          <p:nvPr/>
        </p:nvSpPr>
        <p:spPr>
          <a:xfrm>
            <a:off x="5114365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5209615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1" name="도형 31"/>
          <p:cNvSpPr/>
          <p:nvPr/>
        </p:nvSpPr>
        <p:spPr>
          <a:xfrm>
            <a:off x="7077635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7172885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3" name="도형 33"/>
          <p:cNvSpPr/>
          <p:nvPr/>
        </p:nvSpPr>
        <p:spPr>
          <a:xfrm>
            <a:off x="9040906" y="2382647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9136156" y="2420747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크게 앞섬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3031744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3069844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편의성</a:t>
            </a:r>
          </a:p>
        </p:txBody>
      </p:sp>
      <p:sp>
        <p:nvSpPr>
          <p:cNvPr id="37" name="도형 37"/>
          <p:cNvSpPr/>
          <p:nvPr/>
        </p:nvSpPr>
        <p:spPr>
          <a:xfrm>
            <a:off x="3151094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3246344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9" name="도형 39"/>
          <p:cNvSpPr/>
          <p:nvPr/>
        </p:nvSpPr>
        <p:spPr>
          <a:xfrm>
            <a:off x="5114365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5209615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1" name="도형 41"/>
          <p:cNvSpPr/>
          <p:nvPr/>
        </p:nvSpPr>
        <p:spPr>
          <a:xfrm>
            <a:off x="7077635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7172885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3" name="도형 43"/>
          <p:cNvSpPr/>
          <p:nvPr/>
        </p:nvSpPr>
        <p:spPr>
          <a:xfrm>
            <a:off x="9040906" y="3031744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9136156" y="3069844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앞섬</a:t>
            </a:r>
          </a:p>
        </p:txBody>
      </p:sp>
      <p:sp>
        <p:nvSpPr>
          <p:cNvPr id="45" name="도형 45"/>
          <p:cNvSpPr/>
          <p:nvPr/>
        </p:nvSpPr>
        <p:spPr>
          <a:xfrm>
            <a:off x="533400" y="3680841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628650" y="3718941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브랜드</a:t>
            </a:r>
          </a:p>
        </p:txBody>
      </p:sp>
      <p:sp>
        <p:nvSpPr>
          <p:cNvPr id="47" name="도형 47"/>
          <p:cNvSpPr/>
          <p:nvPr/>
        </p:nvSpPr>
        <p:spPr>
          <a:xfrm>
            <a:off x="3151094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3246344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9" name="도형 49"/>
          <p:cNvSpPr/>
          <p:nvPr/>
        </p:nvSpPr>
        <p:spPr>
          <a:xfrm>
            <a:off x="5114365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5209615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1" name="도형 51"/>
          <p:cNvSpPr/>
          <p:nvPr/>
        </p:nvSpPr>
        <p:spPr>
          <a:xfrm>
            <a:off x="7077635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172885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3" name="도형 53"/>
          <p:cNvSpPr/>
          <p:nvPr/>
        </p:nvSpPr>
        <p:spPr>
          <a:xfrm>
            <a:off x="9040906" y="3680841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4" name="텍스트 54"/>
          <p:cNvSpPr txBox="1"/>
          <p:nvPr/>
        </p:nvSpPr>
        <p:spPr>
          <a:xfrm>
            <a:off x="9136156" y="3718941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뒤처짐</a:t>
            </a:r>
          </a:p>
        </p:txBody>
      </p:sp>
      <p:sp>
        <p:nvSpPr>
          <p:cNvPr id="55" name="도형 55"/>
          <p:cNvSpPr/>
          <p:nvPr/>
        </p:nvSpPr>
        <p:spPr>
          <a:xfrm>
            <a:off x="533400" y="4329938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6" name="텍스트 56"/>
          <p:cNvSpPr txBox="1"/>
          <p:nvPr/>
        </p:nvSpPr>
        <p:spPr>
          <a:xfrm>
            <a:off x="628650" y="4368038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 지원</a:t>
            </a:r>
          </a:p>
        </p:txBody>
      </p:sp>
      <p:sp>
        <p:nvSpPr>
          <p:cNvPr id="57" name="도형 57"/>
          <p:cNvSpPr/>
          <p:nvPr/>
        </p:nvSpPr>
        <p:spPr>
          <a:xfrm>
            <a:off x="3151094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8" name="텍스트 58"/>
          <p:cNvSpPr txBox="1"/>
          <p:nvPr/>
        </p:nvSpPr>
        <p:spPr>
          <a:xfrm>
            <a:off x="3246344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9" name="도형 59"/>
          <p:cNvSpPr/>
          <p:nvPr/>
        </p:nvSpPr>
        <p:spPr>
          <a:xfrm>
            <a:off x="5114365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0" name="텍스트 60"/>
          <p:cNvSpPr txBox="1"/>
          <p:nvPr/>
        </p:nvSpPr>
        <p:spPr>
          <a:xfrm>
            <a:off x="5209615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1" name="도형 61"/>
          <p:cNvSpPr/>
          <p:nvPr/>
        </p:nvSpPr>
        <p:spPr>
          <a:xfrm>
            <a:off x="7077635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2" name="텍스트 62"/>
          <p:cNvSpPr txBox="1"/>
          <p:nvPr/>
        </p:nvSpPr>
        <p:spPr>
          <a:xfrm>
            <a:off x="7172885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3" name="도형 63"/>
          <p:cNvSpPr/>
          <p:nvPr/>
        </p:nvSpPr>
        <p:spPr>
          <a:xfrm>
            <a:off x="9040906" y="4329938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4" name="텍스트 64"/>
          <p:cNvSpPr txBox="1"/>
          <p:nvPr/>
        </p:nvSpPr>
        <p:spPr>
          <a:xfrm>
            <a:off x="9136156" y="4368038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앞섬</a:t>
            </a:r>
          </a:p>
        </p:txBody>
      </p:sp>
      <p:sp>
        <p:nvSpPr>
          <p:cNvPr id="65" name="도형 6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6" name="텍스트 66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E7B58"/>
                </a:solidFill>
                <a:latin typeface="맑은 고딕"/>
                <a:ea typeface="맑은 고딕"/>
              </a:rPr>
              <a:t>뒤처지는 항목은 ‘일부러 포기’할지 ‘보완’할지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차별화는 하나에 집중할수록 강해짐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포지셔닝의 핵심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3619500" cy="4286250"/>
          </a:xfrm>
          <a:prstGeom prst="roundRect">
            <a:avLst>
              <a:gd name="adj" fmla="val 2105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866900"/>
            <a:ext cx="3429000" cy="1428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50" b="1" dirty="0">
                <a:solidFill>
                  <a:srgbClr val="F59E0B"/>
                </a:solidFill>
                <a:latin typeface="맑은 고딕"/>
                <a:ea typeface="맑은 고딕"/>
              </a:rPr>
              <a:t>1개의 첫 번째</a:t>
            </a:r>
          </a:p>
        </p:txBody>
      </p:sp>
      <p:sp>
        <p:nvSpPr>
          <p:cNvPr id="7" name="텍스트 7"/>
          <p:cNvSpPr txBox="1"/>
          <p:nvPr/>
        </p:nvSpPr>
        <p:spPr>
          <a:xfrm>
            <a:off x="723900" y="3486150"/>
            <a:ext cx="3238500" cy="21431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/>
                <a:ea typeface="맑은 고딕"/>
              </a:rPr>
              <a:t>고객 머릿속에 ‘이것 하면 우리’라는 한 가지를 남기기</a:t>
            </a:r>
          </a:p>
        </p:txBody>
      </p:sp>
      <p:sp>
        <p:nvSpPr>
          <p:cNvPr id="8" name="도형 8"/>
          <p:cNvSpPr/>
          <p:nvPr/>
        </p:nvSpPr>
        <p:spPr>
          <a:xfrm>
            <a:off x="4343400" y="1352550"/>
            <a:ext cx="7315200" cy="4286250"/>
          </a:xfrm>
          <a:prstGeom prst="roundRect">
            <a:avLst>
              <a:gd name="adj" fmla="val 1333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4343400" y="1352550"/>
            <a:ext cx="7315200" cy="361950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4343400" y="1543050"/>
            <a:ext cx="7315200" cy="1714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4495800" y="1352550"/>
            <a:ext cx="70104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포지셔닝</a:t>
            </a:r>
          </a:p>
        </p:txBody>
      </p:sp>
      <p:sp>
        <p:nvSpPr>
          <p:cNvPr id="12" name="텍스트 12"/>
          <p:cNvSpPr txBox="1"/>
          <p:nvPr/>
        </p:nvSpPr>
        <p:spPr>
          <a:xfrm>
            <a:off x="4533900" y="1866900"/>
            <a:ext cx="6934200" cy="365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여러 장점을 모두 말하면 </a:t>
            </a: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아무것도 기억되지 않음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가장 중요한 한 가지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를 정하고 반복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나머지는 ‘평균 이상’이면 충분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예) 신선도 1위 → 다른 항목은 경쟁사 수준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차별화 문장은 </a:t>
            </a: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10초 안에 설명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 가능해야 함</a:t>
            </a:r>
          </a:p>
        </p:txBody>
      </p:sp>
      <p:sp>
        <p:nvSpPr>
          <p:cNvPr id="13" name="도형 13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대표 한 가지가 선명할수록 입소문이 쉬워짐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차별화를 검증하는 방법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‘우리만의 강점’이 맞는지 확인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852615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66211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방법</a:t>
            </a:r>
          </a:p>
        </p:txBody>
      </p:sp>
      <p:sp>
        <p:nvSpPr>
          <p:cNvPr id="7" name="도형 7"/>
          <p:cNvSpPr/>
          <p:nvPr/>
        </p:nvSpPr>
        <p:spPr>
          <a:xfrm>
            <a:off x="3386015" y="1352550"/>
            <a:ext cx="4278923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481265" y="1352550"/>
            <a:ext cx="4088423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질문</a:t>
            </a:r>
          </a:p>
        </p:txBody>
      </p:sp>
      <p:sp>
        <p:nvSpPr>
          <p:cNvPr id="9" name="도형 9"/>
          <p:cNvSpPr/>
          <p:nvPr/>
        </p:nvSpPr>
        <p:spPr>
          <a:xfrm>
            <a:off x="7664938" y="1352550"/>
            <a:ext cx="3993662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760188" y="1352550"/>
            <a:ext cx="3803162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성공 신호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85261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66211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 인터뷰</a:t>
            </a:r>
          </a:p>
        </p:txBody>
      </p:sp>
      <p:sp>
        <p:nvSpPr>
          <p:cNvPr id="13" name="도형 13"/>
          <p:cNvSpPr/>
          <p:nvPr/>
        </p:nvSpPr>
        <p:spPr>
          <a:xfrm>
            <a:off x="3386015" y="1733550"/>
            <a:ext cx="4278923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3481265" y="1771650"/>
            <a:ext cx="408842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경쟁사 대신 우리를 쓸 이유는?</a:t>
            </a:r>
          </a:p>
        </p:txBody>
      </p:sp>
      <p:sp>
        <p:nvSpPr>
          <p:cNvPr id="15" name="도형 15"/>
          <p:cNvSpPr/>
          <p:nvPr/>
        </p:nvSpPr>
        <p:spPr>
          <a:xfrm>
            <a:off x="7664938" y="1733550"/>
            <a:ext cx="3993662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760188" y="1771650"/>
            <a:ext cx="3803162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같은 이유를 반복해서 말함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382647"/>
            <a:ext cx="285261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420747"/>
            <a:ext cx="266211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선택 실험</a:t>
            </a:r>
          </a:p>
        </p:txBody>
      </p:sp>
      <p:sp>
        <p:nvSpPr>
          <p:cNvPr id="19" name="도형 19"/>
          <p:cNvSpPr/>
          <p:nvPr/>
        </p:nvSpPr>
        <p:spPr>
          <a:xfrm>
            <a:off x="3386015" y="2382647"/>
            <a:ext cx="4278923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3481265" y="2420747"/>
            <a:ext cx="408842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두 선택지 중 무엇을 고르나</a:t>
            </a:r>
          </a:p>
        </p:txBody>
      </p:sp>
      <p:sp>
        <p:nvSpPr>
          <p:cNvPr id="21" name="도형 21"/>
          <p:cNvSpPr/>
          <p:nvPr/>
        </p:nvSpPr>
        <p:spPr>
          <a:xfrm>
            <a:off x="7664938" y="2382647"/>
            <a:ext cx="3993662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760188" y="2420747"/>
            <a:ext cx="3803162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우리가 60% 이상 선택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031744"/>
            <a:ext cx="2852615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069844"/>
            <a:ext cx="266211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후기 분석</a:t>
            </a:r>
          </a:p>
        </p:txBody>
      </p:sp>
      <p:sp>
        <p:nvSpPr>
          <p:cNvPr id="25" name="도형 25"/>
          <p:cNvSpPr/>
          <p:nvPr/>
        </p:nvSpPr>
        <p:spPr>
          <a:xfrm>
            <a:off x="3386015" y="3031744"/>
            <a:ext cx="4278923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3481265" y="3069844"/>
            <a:ext cx="408842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후기에 그 차별점이 언급되나</a:t>
            </a:r>
          </a:p>
        </p:txBody>
      </p:sp>
      <p:sp>
        <p:nvSpPr>
          <p:cNvPr id="27" name="도형 27"/>
          <p:cNvSpPr/>
          <p:nvPr/>
        </p:nvSpPr>
        <p:spPr>
          <a:xfrm>
            <a:off x="7664938" y="3031744"/>
            <a:ext cx="3993662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760188" y="3069844"/>
            <a:ext cx="3803162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언급 비율 증가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680841"/>
            <a:ext cx="2852615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718941"/>
            <a:ext cx="2662115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가격 반응</a:t>
            </a:r>
          </a:p>
        </p:txBody>
      </p:sp>
      <p:sp>
        <p:nvSpPr>
          <p:cNvPr id="31" name="도형 31"/>
          <p:cNvSpPr/>
          <p:nvPr/>
        </p:nvSpPr>
        <p:spPr>
          <a:xfrm>
            <a:off x="3386015" y="3680841"/>
            <a:ext cx="4278923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3481265" y="3718941"/>
            <a:ext cx="408842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차별점에 추가 비용을 낼까</a:t>
            </a:r>
          </a:p>
        </p:txBody>
      </p:sp>
      <p:sp>
        <p:nvSpPr>
          <p:cNvPr id="33" name="도형 33"/>
          <p:cNvSpPr/>
          <p:nvPr/>
        </p:nvSpPr>
        <p:spPr>
          <a:xfrm>
            <a:off x="7664938" y="3680841"/>
            <a:ext cx="3993662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760188" y="3718941"/>
            <a:ext cx="3803162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소폭 프리미엄 수용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차별점은 돈이나 시간을 내게 하는 것인지로 판단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차별화를 지키는 방법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따라 하기 어렵게 만드는 요소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3009900" y="1352550"/>
            <a:ext cx="95250" cy="78105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66750" y="13525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속도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3295650" y="14192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먼저 시작하고 개선 주기를 빠르게</a:t>
            </a:r>
          </a:p>
        </p:txBody>
      </p:sp>
      <p:sp>
        <p:nvSpPr>
          <p:cNvPr id="10" name="도형 10"/>
          <p:cNvSpPr/>
          <p:nvPr/>
        </p:nvSpPr>
        <p:spPr>
          <a:xfrm>
            <a:off x="533400" y="22288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533400" y="22288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009900" y="2228850"/>
            <a:ext cx="95250" cy="7810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텍스트 13"/>
          <p:cNvSpPr txBox="1"/>
          <p:nvPr/>
        </p:nvSpPr>
        <p:spPr>
          <a:xfrm>
            <a:off x="666750" y="22288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관계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3295650" y="22955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고객과 쌓은 신뢰·데이터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31051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31051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도형 17"/>
          <p:cNvSpPr/>
          <p:nvPr/>
        </p:nvSpPr>
        <p:spPr>
          <a:xfrm>
            <a:off x="3009900" y="3105150"/>
            <a:ext cx="95250" cy="781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66750" y="31051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지식재산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295650" y="31718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특허·상표 등 법적 장벽</a:t>
            </a:r>
          </a:p>
        </p:txBody>
      </p:sp>
      <p:sp>
        <p:nvSpPr>
          <p:cNvPr id="20" name="도형 20"/>
          <p:cNvSpPr/>
          <p:nvPr/>
        </p:nvSpPr>
        <p:spPr>
          <a:xfrm>
            <a:off x="533400" y="39814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533400" y="39814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3009900" y="3981450"/>
            <a:ext cx="95250" cy="781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텍스트 23"/>
          <p:cNvSpPr txBox="1"/>
          <p:nvPr/>
        </p:nvSpPr>
        <p:spPr>
          <a:xfrm>
            <a:off x="666750" y="39814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규모·원가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3295650" y="40481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일정 규모가 되면 생기는 가격 우위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8577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도형 26"/>
          <p:cNvSpPr/>
          <p:nvPr/>
        </p:nvSpPr>
        <p:spPr>
          <a:xfrm>
            <a:off x="533400" y="48577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3009900" y="4857750"/>
            <a:ext cx="95250" cy="781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66750" y="48577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브랜드</a:t>
            </a:r>
          </a:p>
        </p:txBody>
      </p:sp>
      <p:sp>
        <p:nvSpPr>
          <p:cNvPr id="29" name="텍스트 29"/>
          <p:cNvSpPr txBox="1"/>
          <p:nvPr/>
        </p:nvSpPr>
        <p:spPr>
          <a:xfrm>
            <a:off x="3295650" y="49244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 마음속의 위치</a:t>
            </a:r>
          </a:p>
        </p:txBody>
      </p:sp>
      <p:sp>
        <p:nvSpPr>
          <p:cNvPr id="30" name="도형 30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차별화는 한 번 찾는 것이 아니라 계속 지키는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나쁜 서술 vs 좋은 서술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차별성 문장의 차이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3178629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988129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나쁜 서술</a:t>
            </a:r>
          </a:p>
        </p:txBody>
      </p:sp>
      <p:sp>
        <p:nvSpPr>
          <p:cNvPr id="7" name="도형 7"/>
          <p:cNvSpPr/>
          <p:nvPr/>
        </p:nvSpPr>
        <p:spPr>
          <a:xfrm>
            <a:off x="3712029" y="1352550"/>
            <a:ext cx="2648857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807279" y="1352550"/>
            <a:ext cx="2458357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문제점</a:t>
            </a:r>
          </a:p>
        </p:txBody>
      </p:sp>
      <p:sp>
        <p:nvSpPr>
          <p:cNvPr id="9" name="도형 9"/>
          <p:cNvSpPr/>
          <p:nvPr/>
        </p:nvSpPr>
        <p:spPr>
          <a:xfrm>
            <a:off x="6360886" y="1352550"/>
            <a:ext cx="529771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6456136" y="1352550"/>
            <a:ext cx="510721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좋은 서술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3178629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988129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우리는 </a:t>
            </a:r>
            <a:r>
              <a:rPr lang="ko-KR" altLang="en-US" sz="1700" b="1">
                <a:solidFill>
                  <a:srgbClr val="16294A"/>
                </a:solidFill>
                <a:latin typeface="맑은 고딕"/>
                <a:ea typeface="맑은 고딕"/>
              </a:rPr>
              <a:t>경쟁사보다 </a:t>
            </a:r>
            <a:endParaRPr lang="en-US" altLang="ko-KR" sz="1700" b="1">
              <a:solidFill>
                <a:srgbClr val="16294A"/>
              </a:solidFill>
              <a:latin typeface="맑은 고딕"/>
              <a:ea typeface="맑은 고딕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16294A"/>
                </a:solidFill>
                <a:latin typeface="맑은 고딕"/>
                <a:ea typeface="맑은 고딕"/>
              </a:rPr>
              <a:t>품질이 </a:t>
            </a: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좋음</a:t>
            </a:r>
          </a:p>
        </p:txBody>
      </p:sp>
      <p:sp>
        <p:nvSpPr>
          <p:cNvPr id="13" name="도형 13"/>
          <p:cNvSpPr/>
          <p:nvPr/>
        </p:nvSpPr>
        <p:spPr>
          <a:xfrm>
            <a:off x="3712029" y="1733550"/>
            <a:ext cx="2648857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3807279" y="1771650"/>
            <a:ext cx="2458357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근거 없음</a:t>
            </a:r>
          </a:p>
        </p:txBody>
      </p:sp>
      <p:sp>
        <p:nvSpPr>
          <p:cNvPr id="15" name="도형 15"/>
          <p:cNvSpPr/>
          <p:nvPr/>
        </p:nvSpPr>
        <p:spPr>
          <a:xfrm>
            <a:off x="6360886" y="1733550"/>
            <a:ext cx="529771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6456136" y="1771650"/>
            <a:ext cx="510721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당일 조리·당일 배송으로 신선도 만족도 4.7점(시범 이용자 30명)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669794"/>
            <a:ext cx="3178629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707894"/>
            <a:ext cx="2988129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 맞춤형 서비스임</a:t>
            </a:r>
          </a:p>
        </p:txBody>
      </p:sp>
      <p:sp>
        <p:nvSpPr>
          <p:cNvPr id="19" name="도형 19"/>
          <p:cNvSpPr/>
          <p:nvPr/>
        </p:nvSpPr>
        <p:spPr>
          <a:xfrm>
            <a:off x="3712029" y="2669794"/>
            <a:ext cx="2648857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3807279" y="2707894"/>
            <a:ext cx="2458357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구체성 없음</a:t>
            </a:r>
          </a:p>
        </p:txBody>
      </p:sp>
      <p:sp>
        <p:nvSpPr>
          <p:cNvPr id="21" name="도형 21"/>
          <p:cNvSpPr/>
          <p:nvPr/>
        </p:nvSpPr>
        <p:spPr>
          <a:xfrm>
            <a:off x="6360886" y="2669794"/>
            <a:ext cx="529771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456136" y="2707894"/>
            <a:ext cx="510721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선택한 알레르기 정보에 따라 메뉴를 자동으로 제외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606038"/>
            <a:ext cx="3178629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644138"/>
            <a:ext cx="2988129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가격 경쟁력이 있음</a:t>
            </a:r>
          </a:p>
        </p:txBody>
      </p:sp>
      <p:sp>
        <p:nvSpPr>
          <p:cNvPr id="25" name="도형 25"/>
          <p:cNvSpPr/>
          <p:nvPr/>
        </p:nvSpPr>
        <p:spPr>
          <a:xfrm>
            <a:off x="3712029" y="3606038"/>
            <a:ext cx="2648857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3807279" y="3644138"/>
            <a:ext cx="2458357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비교 대상 없음</a:t>
            </a:r>
          </a:p>
        </p:txBody>
      </p:sp>
      <p:sp>
        <p:nvSpPr>
          <p:cNvPr id="27" name="도형 27"/>
          <p:cNvSpPr/>
          <p:nvPr/>
        </p:nvSpPr>
        <p:spPr>
          <a:xfrm>
            <a:off x="6360886" y="3606038"/>
            <a:ext cx="529771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456136" y="3644138"/>
            <a:ext cx="510721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경쟁사 평균 8,000원 대비 6,900원, 구독 시 5,900원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‘누구와 비교해 무엇이 얼마나’가 들어가야 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활용 예시 : 어떤 관점으로 차별화하나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가상의 사례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84598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65548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사업</a:t>
            </a:r>
          </a:p>
        </p:txBody>
      </p:sp>
      <p:sp>
        <p:nvSpPr>
          <p:cNvPr id="7" name="도형 7"/>
          <p:cNvSpPr/>
          <p:nvPr/>
        </p:nvSpPr>
        <p:spPr>
          <a:xfrm>
            <a:off x="3379381" y="1352550"/>
            <a:ext cx="3363433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474631" y="1352550"/>
            <a:ext cx="31729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선택한 관점</a:t>
            </a:r>
          </a:p>
        </p:txBody>
      </p:sp>
      <p:sp>
        <p:nvSpPr>
          <p:cNvPr id="9" name="도형 9"/>
          <p:cNvSpPr/>
          <p:nvPr/>
        </p:nvSpPr>
        <p:spPr>
          <a:xfrm>
            <a:off x="6742814" y="1352550"/>
            <a:ext cx="491578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6838064" y="1352550"/>
            <a:ext cx="472528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차별화 포인트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84598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65548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도시락 구독</a:t>
            </a:r>
          </a:p>
        </p:txBody>
      </p:sp>
      <p:sp>
        <p:nvSpPr>
          <p:cNvPr id="13" name="도형 13"/>
          <p:cNvSpPr/>
          <p:nvPr/>
        </p:nvSpPr>
        <p:spPr>
          <a:xfrm>
            <a:off x="3379381" y="1733550"/>
            <a:ext cx="3363433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3474631" y="1771650"/>
            <a:ext cx="317293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사용 경험 + 가치·가격</a:t>
            </a:r>
          </a:p>
        </p:txBody>
      </p:sp>
      <p:sp>
        <p:nvSpPr>
          <p:cNvPr id="15" name="도형 15"/>
          <p:cNvSpPr/>
          <p:nvPr/>
        </p:nvSpPr>
        <p:spPr>
          <a:xfrm>
            <a:off x="6742814" y="1733550"/>
            <a:ext cx="491578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6838064" y="1771650"/>
            <a:ext cx="472528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미리 주문, 점심 줄 0분, 구독 할인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382647"/>
            <a:ext cx="284598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420747"/>
            <a:ext cx="265548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수제 간식</a:t>
            </a:r>
          </a:p>
        </p:txBody>
      </p:sp>
      <p:sp>
        <p:nvSpPr>
          <p:cNvPr id="19" name="도형 19"/>
          <p:cNvSpPr/>
          <p:nvPr/>
        </p:nvSpPr>
        <p:spPr>
          <a:xfrm>
            <a:off x="3379381" y="2382647"/>
            <a:ext cx="3363433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3474631" y="2420747"/>
            <a:ext cx="317293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제품·구성</a:t>
            </a:r>
          </a:p>
        </p:txBody>
      </p:sp>
      <p:sp>
        <p:nvSpPr>
          <p:cNvPr id="21" name="도형 21"/>
          <p:cNvSpPr/>
          <p:nvPr/>
        </p:nvSpPr>
        <p:spPr>
          <a:xfrm>
            <a:off x="6742814" y="2382647"/>
            <a:ext cx="491578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838064" y="2420747"/>
            <a:ext cx="472528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알레르기 맞춤 재료와 소포장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031744"/>
            <a:ext cx="284598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069844"/>
            <a:ext cx="265548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학습 서비스</a:t>
            </a:r>
          </a:p>
        </p:txBody>
      </p:sp>
      <p:sp>
        <p:nvSpPr>
          <p:cNvPr id="25" name="도형 25"/>
          <p:cNvSpPr/>
          <p:nvPr/>
        </p:nvSpPr>
        <p:spPr>
          <a:xfrm>
            <a:off x="3379381" y="3031744"/>
            <a:ext cx="3363433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3474631" y="3069844"/>
            <a:ext cx="317293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사람·관계</a:t>
            </a:r>
          </a:p>
        </p:txBody>
      </p:sp>
      <p:sp>
        <p:nvSpPr>
          <p:cNvPr id="27" name="도형 27"/>
          <p:cNvSpPr/>
          <p:nvPr/>
        </p:nvSpPr>
        <p:spPr>
          <a:xfrm>
            <a:off x="6742814" y="3031744"/>
            <a:ext cx="491578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838064" y="3069844"/>
            <a:ext cx="472528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1:1 멘토와 학습 커뮤니티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680841"/>
            <a:ext cx="284598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718941"/>
            <a:ext cx="265548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B2B 소프트웨어</a:t>
            </a:r>
          </a:p>
        </p:txBody>
      </p:sp>
      <p:sp>
        <p:nvSpPr>
          <p:cNvPr id="31" name="도형 31"/>
          <p:cNvSpPr/>
          <p:nvPr/>
        </p:nvSpPr>
        <p:spPr>
          <a:xfrm>
            <a:off x="3379381" y="3680841"/>
            <a:ext cx="3363433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3474631" y="3718941"/>
            <a:ext cx="317293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신뢰·기술</a:t>
            </a:r>
          </a:p>
        </p:txBody>
      </p:sp>
      <p:sp>
        <p:nvSpPr>
          <p:cNvPr id="33" name="도형 33"/>
          <p:cNvSpPr/>
          <p:nvPr/>
        </p:nvSpPr>
        <p:spPr>
          <a:xfrm>
            <a:off x="6742814" y="3680841"/>
            <a:ext cx="491578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6838064" y="3718941"/>
            <a:ext cx="472528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보안 인증과 전문가 지원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329938"/>
            <a:ext cx="284598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368038"/>
            <a:ext cx="265548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지역 상점</a:t>
            </a:r>
          </a:p>
        </p:txBody>
      </p:sp>
      <p:sp>
        <p:nvSpPr>
          <p:cNvPr id="37" name="도형 37"/>
          <p:cNvSpPr/>
          <p:nvPr/>
        </p:nvSpPr>
        <p:spPr>
          <a:xfrm>
            <a:off x="3379381" y="4329938"/>
            <a:ext cx="3363433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3474631" y="4368038"/>
            <a:ext cx="3172933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방식·채널</a:t>
            </a:r>
          </a:p>
        </p:txBody>
      </p:sp>
      <p:sp>
        <p:nvSpPr>
          <p:cNvPr id="39" name="도형 39"/>
          <p:cNvSpPr/>
          <p:nvPr/>
        </p:nvSpPr>
        <p:spPr>
          <a:xfrm>
            <a:off x="6742814" y="4329938"/>
            <a:ext cx="491578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6838064" y="4368038"/>
            <a:ext cx="472528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배달·픽업·정기 방문 혼합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E7B58"/>
                </a:solidFill>
                <a:latin typeface="맑은 고딕"/>
                <a:ea typeface="맑은 고딕"/>
              </a:rPr>
              <a:t>한 관점에서 1~2개의 포인트만 선택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도우미 사용 방법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개인·팀 참여 형태부터 저장까지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09600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단계 1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666750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참여 형태 고르기</a:t>
            </a:r>
          </a:p>
        </p:txBody>
      </p:sp>
      <p:sp>
        <p:nvSpPr>
          <p:cNvPr id="10" name="텍스트 10"/>
          <p:cNvSpPr txBox="1"/>
          <p:nvPr/>
        </p:nvSpPr>
        <p:spPr>
          <a:xfrm>
            <a:off x="666750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개인 또는 팀 선택</a:t>
            </a:r>
          </a:p>
        </p:txBody>
      </p:sp>
      <p:sp>
        <p:nvSpPr>
          <p:cNvPr id="11" name="텍스트 11"/>
          <p:cNvSpPr txBox="1"/>
          <p:nvPr/>
        </p:nvSpPr>
        <p:spPr>
          <a:xfrm>
            <a:off x="647700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팀 이름 · 팀원 입력</a:t>
            </a:r>
          </a:p>
        </p:txBody>
      </p:sp>
      <p:sp>
        <p:nvSpPr>
          <p:cNvPr id="12" name="도형 12"/>
          <p:cNvSpPr/>
          <p:nvPr/>
        </p:nvSpPr>
        <p:spPr>
          <a:xfrm>
            <a:off x="3348038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3348038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3348038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3424238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단계 2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3481388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카드 · 아이디어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3481388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카드 최대 4개 고르고 아이디어 적기</a:t>
            </a:r>
          </a:p>
        </p:txBody>
      </p:sp>
      <p:sp>
        <p:nvSpPr>
          <p:cNvPr id="18" name="텍스트 18"/>
          <p:cNvSpPr txBox="1"/>
          <p:nvPr/>
        </p:nvSpPr>
        <p:spPr>
          <a:xfrm>
            <a:off x="3462338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구독으로 · 점심 줄 0분</a:t>
            </a:r>
          </a:p>
        </p:txBody>
      </p:sp>
      <p:sp>
        <p:nvSpPr>
          <p:cNvPr id="19" name="도형 19"/>
          <p:cNvSpPr/>
          <p:nvPr/>
        </p:nvSpPr>
        <p:spPr>
          <a:xfrm>
            <a:off x="6162675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6162675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6162675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238875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단계 3</a:t>
            </a:r>
          </a:p>
        </p:txBody>
      </p:sp>
      <p:sp>
        <p:nvSpPr>
          <p:cNvPr id="23" name="텍스트 23"/>
          <p:cNvSpPr txBox="1"/>
          <p:nvPr/>
        </p:nvSpPr>
        <p:spPr>
          <a:xfrm>
            <a:off x="6296025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설명 · 경쟁사 비교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6296025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설명 초안과 경쟁사 비교표(필수) 작성</a:t>
            </a:r>
          </a:p>
        </p:txBody>
      </p:sp>
      <p:sp>
        <p:nvSpPr>
          <p:cNvPr id="25" name="텍스트 25"/>
          <p:cNvSpPr txBox="1"/>
          <p:nvPr/>
        </p:nvSpPr>
        <p:spPr>
          <a:xfrm>
            <a:off x="6276975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당사와 경쟁사 3곳 비교</a:t>
            </a:r>
          </a:p>
        </p:txBody>
      </p:sp>
      <p:sp>
        <p:nvSpPr>
          <p:cNvPr id="26" name="도형 26"/>
          <p:cNvSpPr/>
          <p:nvPr/>
        </p:nvSpPr>
        <p:spPr>
          <a:xfrm>
            <a:off x="8977313" y="1409700"/>
            <a:ext cx="2681288" cy="36195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8977313" y="1409700"/>
            <a:ext cx="2681288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도형 28"/>
          <p:cNvSpPr/>
          <p:nvPr/>
        </p:nvSpPr>
        <p:spPr>
          <a:xfrm>
            <a:off x="8977313" y="1562100"/>
            <a:ext cx="2681288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텍스트 29"/>
          <p:cNvSpPr txBox="1"/>
          <p:nvPr/>
        </p:nvSpPr>
        <p:spPr>
          <a:xfrm>
            <a:off x="9053513" y="1409700"/>
            <a:ext cx="252888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단계 4</a:t>
            </a:r>
          </a:p>
        </p:txBody>
      </p:sp>
      <p:sp>
        <p:nvSpPr>
          <p:cNvPr id="30" name="텍스트 30"/>
          <p:cNvSpPr txBox="1"/>
          <p:nvPr/>
        </p:nvSpPr>
        <p:spPr>
          <a:xfrm>
            <a:off x="9110663" y="1809750"/>
            <a:ext cx="2414588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저장하기</a:t>
            </a:r>
          </a:p>
        </p:txBody>
      </p:sp>
      <p:sp>
        <p:nvSpPr>
          <p:cNvPr id="31" name="텍스트 31"/>
          <p:cNvSpPr txBox="1"/>
          <p:nvPr/>
        </p:nvSpPr>
        <p:spPr>
          <a:xfrm>
            <a:off x="9110663" y="2952750"/>
            <a:ext cx="2414588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PPT·Word·PNG 저장</a:t>
            </a:r>
          </a:p>
        </p:txBody>
      </p:sp>
      <p:sp>
        <p:nvSpPr>
          <p:cNvPr id="32" name="텍스트 32"/>
          <p:cNvSpPr txBox="1"/>
          <p:nvPr/>
        </p:nvSpPr>
        <p:spPr>
          <a:xfrm>
            <a:off x="9091613" y="4495800"/>
            <a:ext cx="2452688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비교표는 표로 저장</a:t>
            </a:r>
          </a:p>
        </p:txBody>
      </p:sp>
      <p:sp>
        <p:nvSpPr>
          <p:cNvPr id="33" name="도형 33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도형 34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5" name="텍스트 35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핵심 : 경쟁사 차별요소 비교표는 건너뛰지 않고 꼭 작성 (경쟁사 최대 5곳)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 카드 60장 한눈에 보기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6개 묶음으로 나뉘어 있음 — 묶음별 카드는 이어지는 장에서 하나씩 설명함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3009900" y="1352550"/>
            <a:ext cx="95250" cy="635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66750" y="135255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방식·채널 (10장)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3295650" y="141922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원격으로 · 온라인으로 · 플랫폼으로 · 오프라인으로 · 대신해서 · 직접 · 자동으로 · 24시간 · 모바일로 · 즉시</a:t>
            </a:r>
          </a:p>
        </p:txBody>
      </p:sp>
      <p:sp>
        <p:nvSpPr>
          <p:cNvPr id="10" name="도형 10"/>
          <p:cNvSpPr/>
          <p:nvPr/>
        </p:nvSpPr>
        <p:spPr>
          <a:xfrm>
            <a:off x="533400" y="208280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533400" y="208280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009900" y="2082800"/>
            <a:ext cx="95250" cy="63500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텍스트 13"/>
          <p:cNvSpPr txBox="1"/>
          <p:nvPr/>
        </p:nvSpPr>
        <p:spPr>
          <a:xfrm>
            <a:off x="666750" y="208280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제품·구성 (10장)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3295650" y="214947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맞춤형으로 · 제품으로 · 집중해서 · 분리해서 · 결합해서 · 반대로 · 축소해서 · 확장해서 · 말도안되게 · 다양하게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281305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281305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도형 17"/>
          <p:cNvSpPr/>
          <p:nvPr/>
        </p:nvSpPr>
        <p:spPr>
          <a:xfrm>
            <a:off x="3009900" y="2813050"/>
            <a:ext cx="95250" cy="635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66750" y="281305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사용 경험 (10장)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295650" y="287972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불편하게 · 편리하게 · 느리게 · 빠르게 · 체험할 수 있게 · 심플하게 · 게임처럼 · 감성적으로 · 재미있게 · 쉽게</a:t>
            </a:r>
          </a:p>
        </p:txBody>
      </p:sp>
      <p:sp>
        <p:nvSpPr>
          <p:cNvPr id="20" name="도형 20"/>
          <p:cNvSpPr/>
          <p:nvPr/>
        </p:nvSpPr>
        <p:spPr>
          <a:xfrm>
            <a:off x="533400" y="354330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533400" y="354330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3009900" y="3543300"/>
            <a:ext cx="95250" cy="63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텍스트 23"/>
          <p:cNvSpPr txBox="1"/>
          <p:nvPr/>
        </p:nvSpPr>
        <p:spPr>
          <a:xfrm>
            <a:off x="666750" y="354330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사람·관계 (10장)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3295650" y="360997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공유해서 · 사회적으로 · 커뮤니티로 · 콘텐츠로 · 협업으로 · 이야기로 · 지역 기반으로 · 함께해서 · 후기로 · 착하게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27355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도형 26"/>
          <p:cNvSpPr/>
          <p:nvPr/>
        </p:nvSpPr>
        <p:spPr>
          <a:xfrm>
            <a:off x="533400" y="427355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3009900" y="4273550"/>
            <a:ext cx="95250" cy="635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66750" y="427355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신뢰·기술 (10장)</a:t>
            </a:r>
          </a:p>
        </p:txBody>
      </p:sp>
      <p:sp>
        <p:nvSpPr>
          <p:cNvPr id="29" name="텍스트 29"/>
          <p:cNvSpPr txBox="1"/>
          <p:nvPr/>
        </p:nvSpPr>
        <p:spPr>
          <a:xfrm>
            <a:off x="3295650" y="434022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인공지능으로 · 친환경으로 · 투명하게 · 개인화해서 · 안전하게 · 전문적으로 · 사람 손으로 · 데이터로 · 인증으로 · 건강하게</a:t>
            </a:r>
          </a:p>
        </p:txBody>
      </p:sp>
      <p:sp>
        <p:nvSpPr>
          <p:cNvPr id="30" name="도형 30"/>
          <p:cNvSpPr/>
          <p:nvPr/>
        </p:nvSpPr>
        <p:spPr>
          <a:xfrm>
            <a:off x="533400" y="5003800"/>
            <a:ext cx="11125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533400" y="5003800"/>
            <a:ext cx="2571750" cy="635000"/>
          </a:xfrm>
          <a:prstGeom prst="roundRect">
            <a:avLst>
              <a:gd name="adj" fmla="val 9000"/>
            </a:avLst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도형 32"/>
          <p:cNvSpPr/>
          <p:nvPr/>
        </p:nvSpPr>
        <p:spPr>
          <a:xfrm>
            <a:off x="3009900" y="5003800"/>
            <a:ext cx="95250" cy="635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3" name="텍스트 33"/>
          <p:cNvSpPr txBox="1"/>
          <p:nvPr/>
        </p:nvSpPr>
        <p:spPr>
          <a:xfrm>
            <a:off x="666750" y="5003800"/>
            <a:ext cx="230505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가치·가격 (10장)</a:t>
            </a:r>
          </a:p>
        </p:txBody>
      </p:sp>
      <p:sp>
        <p:nvSpPr>
          <p:cNvPr id="34" name="텍스트 34"/>
          <p:cNvSpPr txBox="1"/>
          <p:nvPr/>
        </p:nvSpPr>
        <p:spPr>
          <a:xfrm>
            <a:off x="3295650" y="5070475"/>
            <a:ext cx="8134350" cy="501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 dirty="0">
                <a:solidFill>
                  <a:srgbClr val="1F2937"/>
                </a:solidFill>
                <a:latin typeface="맑은 고딕"/>
                <a:ea typeface="맑은 고딕"/>
              </a:rPr>
              <a:t>저렴하게 · 비싸게 · 무료로 · 구독으로 · 한정판으로 · 보장해서 · 소분해서 · 묶어서 · 빌려서 · 고급스럽게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도형 36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7" name="텍스트 37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방식·제품·경험·사람·신뢰·가치의 6가지 관점으로 우리만의 강점을 찾아보기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방식·채널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🛰 원격으로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사람이 현장에 가지 않고 멀리서 제어·진행할 수 있게 하는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이동이 어렵거나 시간이 부족한 고객을 만날 때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476899"/>
            <a:ext cx="2309004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514999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💻 온라인으로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476899"/>
            <a:ext cx="5037826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514999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오프라인에서 하던 일을 인터넷·앱으로 옮겨 제공하는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476899"/>
            <a:ext cx="3778370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514999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전국 고객, 24시간 이용이 필요할 때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220248"/>
            <a:ext cx="2309004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258348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🏗 플랫폼으로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220248"/>
            <a:ext cx="5037826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258348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판매자와 구매자를 연결하는 장(場)을 만드는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220248"/>
            <a:ext cx="3778370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258348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공급자와 수요자를 모을 수 있을 때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963597"/>
            <a:ext cx="2309004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4001697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🏪 오프라인으로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3963597"/>
            <a:ext cx="5037826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4001697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온라인이 아닌 현장에서 직접 만나고 경험하게 하는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3963597"/>
            <a:ext cx="3778370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4001697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직접 보고 만져야 하는 상품, 지역 고객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706947"/>
            <a:ext cx="2309004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745047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🧑‍🔧 대신해서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706947"/>
            <a:ext cx="5037826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745047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하기 싫거나 어려운 일을 대신 해 주는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706947"/>
            <a:ext cx="3778370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745047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바쁜 직장인, 어렵고 번거로운 일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5450296"/>
            <a:ext cx="2309004" cy="456202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5488396"/>
            <a:ext cx="2118504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🙌 직접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5450296"/>
            <a:ext cx="5037826" cy="456202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5488396"/>
            <a:ext cx="4847326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직접 참여·체험·수확·제작하게 하는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5450296"/>
            <a:ext cx="3778370" cy="456202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5488396"/>
            <a:ext cx="3587870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체험 가치가 큰 분야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906498"/>
            <a:ext cx="2309004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944598"/>
            <a:ext cx="2118504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⚙️ 자동으로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906498"/>
            <a:ext cx="5037826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944598"/>
            <a:ext cx="4847326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사람이 하지 않아도 알아서 처리되는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906498"/>
            <a:ext cx="3778370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944598"/>
            <a:ext cx="3587870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반복되는 주문·관리·결제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방식·채널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🕛 24시간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언제든 이용할 수 있도록 시간 제한을 없애는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야간·긴급·무인 서비스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669794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707894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📱 모바일로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669794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707894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스마트폰 하나로 예약·주문·결제·관리를 끝내는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669794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707894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젊은 고객, 이동 중 이용이 많은 서비스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606038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644138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⏱ 즉시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606038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644138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주문과 동시에 바로 받거나 바로 이용하게 하는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606038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644138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디지털 상품, 급한 수요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제품·구성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🧵 맞춤형으로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고객 한 사람 한 사람의 취향·치수·상황에 맞춰 제공하는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취향 차이가 크고 개인별 만족이 중요한 상품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432259"/>
            <a:ext cx="2309004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470359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📦 제품으로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432259"/>
            <a:ext cx="5037826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470359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서비스가 아니라 눈에 보이는 실물 제품으로 가치를 전달하는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432259"/>
            <a:ext cx="3778370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470359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무형 서비스를 상품화하고 싶을 때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130967"/>
            <a:ext cx="2309004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169067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🎯 집중해서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130967"/>
            <a:ext cx="5037826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169067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한 가지 분야·한 가지 고객에 집중해 전문성을 높이는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130967"/>
            <a:ext cx="3778370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169067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경쟁이 치열해 ‘넓게’로는 승산이 없을 때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829676"/>
            <a:ext cx="2309004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867776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✂️ 분리해서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3829676"/>
            <a:ext cx="5037826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3867776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묶여 있던 서비스나 가격을 따로 떼어 필요한 것만 선택하게 하는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3829676"/>
            <a:ext cx="3778370" cy="69870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3867776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고객마다 필요한 범위가 다를 때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528385"/>
            <a:ext cx="2309004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566485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🧲 결합해서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528385"/>
            <a:ext cx="5037826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566485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서로 다른 두 가지를 합쳐 새로운 가치를 만드는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528385"/>
            <a:ext cx="3778370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566485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두 시장의 고객이 겹칠 때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5227093"/>
            <a:ext cx="2309004" cy="436898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5265193"/>
            <a:ext cx="2118504" cy="3606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🙃 반대로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5227093"/>
            <a:ext cx="5037826" cy="436898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5265193"/>
            <a:ext cx="4847326" cy="3606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남들과 정반대로 생각하고 실행하는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5227093"/>
            <a:ext cx="3778370" cy="436898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5265193"/>
            <a:ext cx="3587870" cy="3606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모든 경쟁사가 비슷한 방식으로 일할 때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663991"/>
            <a:ext cx="2309004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702091"/>
            <a:ext cx="2118504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16294A"/>
                </a:solidFill>
                <a:latin typeface="맑은 고딕"/>
                <a:ea typeface="맑은 고딕"/>
              </a:rPr>
              <a:t>🔬 축소해서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663991"/>
            <a:ext cx="5037826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702091"/>
            <a:ext cx="4847326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크기·양·기능을 줄여 가볍고 부담 없이 쓰게 하는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663991"/>
            <a:ext cx="3778370" cy="69870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702091"/>
            <a:ext cx="3587870" cy="6225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dirty="0">
                <a:solidFill>
                  <a:srgbClr val="1F2937"/>
                </a:solidFill>
                <a:latin typeface="맑은 고딕"/>
                <a:ea typeface="맑은 고딕"/>
              </a:rPr>
              <a:t>1인 가구, 이동·보관이 불편한 상품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제품·구성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🔭 확장해서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범위·기능·대상을 넓혀 더 큰 가치를 주는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핵심 고객이 이미 있고 연관 수요가 클 때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669794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707894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🦄 말도안되게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669794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707894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상식을 벗어난 아이디어로 화제와 호기심을 만드는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669794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707894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화제성이 곧 마케팅인 시장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606038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644138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🌈 다양하게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606038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644138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선택지를 풍부하게 제공해 고객 취향을 폭넓게 만족시키는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606038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644138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 취향 차이가 클 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사용 경험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😖 불편하게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일부러 불편함을 주어 안전·집중·절제의 가치를 만드는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안전, 집중, 절제가 목적인 상품과 서비스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474486"/>
            <a:ext cx="2309004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512586"/>
            <a:ext cx="2118504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🪄 편리하게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474486"/>
            <a:ext cx="5037826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512586"/>
            <a:ext cx="4847326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고객이 들이는 시간·노력을 줄여 쓰기 쉽게 만드는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474486"/>
            <a:ext cx="3778370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512586"/>
            <a:ext cx="3587870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반복해서 사용하는 서비스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215422"/>
            <a:ext cx="2309004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253522"/>
            <a:ext cx="2118504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🐢 느리게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215422"/>
            <a:ext cx="5037826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253522"/>
            <a:ext cx="4847326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빠름이 당연한 시장에서 천천히 정성스럽게 만드는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215422"/>
            <a:ext cx="3778370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253522"/>
            <a:ext cx="3587870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슬로푸드, 수제, 여유를 파는 사업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956358"/>
            <a:ext cx="2309004" cy="462235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994458"/>
            <a:ext cx="2118504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🚀 빠르게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3956358"/>
            <a:ext cx="5037826" cy="462235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3994458"/>
            <a:ext cx="4847326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더 빨리 제공하는 것으로 시간 가치를 주는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3956358"/>
            <a:ext cx="3778370" cy="462235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3994458"/>
            <a:ext cx="3587870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급하게 필요한 상품·서비스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418593"/>
            <a:ext cx="2309004" cy="46223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456693"/>
            <a:ext cx="2118504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🧪 체험할 수 있게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418593"/>
            <a:ext cx="5037826" cy="46223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456693"/>
            <a:ext cx="4847326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구매 전에 직접 써 보고 느끼게 하는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418593"/>
            <a:ext cx="3778370" cy="46223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456693"/>
            <a:ext cx="3587870" cy="3860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가격이 높거나 취향을 타는 상품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4880828"/>
            <a:ext cx="2309004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4918928"/>
            <a:ext cx="2118504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⚪ 심플하게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4880828"/>
            <a:ext cx="5037826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4918928"/>
            <a:ext cx="4847326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기능·디자인·절차를 단순하게 줄여 이해와 사용을 쉽게 하는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4880828"/>
            <a:ext cx="3778370" cy="740936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4918928"/>
            <a:ext cx="3587870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복잡한 시장, 초보 고객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621764"/>
            <a:ext cx="2309004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659864"/>
            <a:ext cx="2118504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🎮 게임처럼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621764"/>
            <a:ext cx="5037826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659864"/>
            <a:ext cx="4847326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미션·점수·보상 같은 게임 요소를 넣어 재미와 참여를 높이는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621764"/>
            <a:ext cx="3778370" cy="74093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659864"/>
            <a:ext cx="3587870" cy="66473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dirty="0">
                <a:solidFill>
                  <a:srgbClr val="1F2937"/>
                </a:solidFill>
                <a:latin typeface="맑은 고딕"/>
                <a:ea typeface="맑은 고딕"/>
              </a:rPr>
              <a:t>습관 형성, 교육, 포인트 서비스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사용 경험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💖 감성적으로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기능보다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카페, 숙박, 선물, 공간 사업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382647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420747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😆 재미있게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382647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420747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유쾌한 표현과 경험으로 즐거움을 주는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382647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420747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젊은 고객, 일상 소비재, 서비스 브랜드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318891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356991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👌 쉽게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318891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356991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초보자도 바로 이해하고 시작할 수 있게 만드는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318891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356991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어렵게 느끼는 분야(투자, 외국어, 법률)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사람·관계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🤲 공유해서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혼자 소유하지 않고 함께 쓰게 하여 비용과 자원을 줄이는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사용 빈도는 낮고 값은 비싼 물건·공간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517920"/>
            <a:ext cx="2309004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556020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🌍 사회적으로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517920"/>
            <a:ext cx="5037826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556020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사회 문제 해결이나 공동체의 가치를 담는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517920"/>
            <a:ext cx="3778370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556020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고객이 많고 기업 이미지가 중요할 때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302290"/>
            <a:ext cx="2309004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340390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👥 커뮤니티로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302290"/>
            <a:ext cx="5037826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340390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고객이 모여 소통하는 공간을 만들어 소속감을 주는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302290"/>
            <a:ext cx="3778370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340390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취미·관심사가 뚜렷한 고객층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4086660"/>
            <a:ext cx="2309004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4124760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🎞 콘텐츠로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4086660"/>
            <a:ext cx="5037826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4124760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정보·이야기·영상 같은 콘텐츠로 고객을 끌어들이는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4086660"/>
            <a:ext cx="3778370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4124760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구매 전에 정보 탐색이 중요한 분야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871031"/>
            <a:ext cx="2309004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909131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🤝 협업으로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871031"/>
            <a:ext cx="5037826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909131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다른 브랜드·작가·전문가와 함께 만드는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871031"/>
            <a:ext cx="3778370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909131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새로운 고객층을 만나고 싶을 때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5368254"/>
            <a:ext cx="2309004" cy="49722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5406354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📖 이야기로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5368254"/>
            <a:ext cx="5037826" cy="49722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5406354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제품 뒤의 사연과 스토리로 공감을 만드는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5368254"/>
            <a:ext cx="3778370" cy="497223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5406354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창업 스토리, 장인, 지역 브랜드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865477"/>
            <a:ext cx="2309004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903577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📍 지역 기반으로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865477"/>
            <a:ext cx="5037826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903577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지역의 재료·사람·문화를 기반으로 하는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865477"/>
            <a:ext cx="3778370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903577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로컬 브랜드, 관광, 농특산물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사람·관계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👨‍👩‍👧 함께해서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여럿이 함께하는 형태로 가격과 재미를 높이는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가족, 동호회, 이웃 단위 고객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669794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707894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⭐ 후기로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669794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707894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실제 사용자의 후기와 평점을 핵심 근거로 삼는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669794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707894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처음 보는 브랜드, 신제품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606038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644138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😇 착하게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606038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644138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정직한 가격과 공정한 태도로 착한 소비를 가능하게 하는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606038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644138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고객, 지역 사회와 함께하는 사업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신뢰·기술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🤖 인공지능으로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인공지능이 분석·추천·응대를 대신해 더 똑똑하게 제공하는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데이터가 쌓이는 서비스, 반복 상담이 많은 사업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476899"/>
            <a:ext cx="2309004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514999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♻️ 친환경으로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476899"/>
            <a:ext cx="5037826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514999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환경에 부담을 덜 주는 재료·방식으로 만드는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476899"/>
            <a:ext cx="3778370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514999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고객, ESG를 중시하는 기업 고객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220248"/>
            <a:ext cx="2309004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258348"/>
            <a:ext cx="2118504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🪟 투명하게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220248"/>
            <a:ext cx="5037826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258348"/>
            <a:ext cx="4847326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원가·재료·과정을 숨기지 않고 공개하는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220248"/>
            <a:ext cx="3778370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258348"/>
            <a:ext cx="3587870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불신이 큰 시장(식품, 금융, 중개)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676450"/>
            <a:ext cx="2309004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714550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🪪 개인화해서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3676450"/>
            <a:ext cx="5037826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3714550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고객의 이름·기록·선호를 반영해 개인별로 다르게 보여주는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3676450"/>
            <a:ext cx="3778370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3714550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 데이터가 쌓이는 서비스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419800"/>
            <a:ext cx="2309004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457900"/>
            <a:ext cx="2118504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🛡 안전하게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419800"/>
            <a:ext cx="5037826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457900"/>
            <a:ext cx="4847326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안전·보안·위생을 가장 앞세우는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419800"/>
            <a:ext cx="3778370" cy="45620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457900"/>
            <a:ext cx="3587870" cy="38000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아이, 식품, 의료, 금융 분야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4876002"/>
            <a:ext cx="2309004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4914102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🎓 전문적으로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4876002"/>
            <a:ext cx="5037826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4914102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자격·경력·전문 지식을 앞세워 믿고 맡기게 하는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4876002"/>
            <a:ext cx="3778370" cy="743349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4914102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결과를 평가하기 어려운 서비스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619351"/>
            <a:ext cx="2309004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657451"/>
            <a:ext cx="2118504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✋ 사람 손으로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619351"/>
            <a:ext cx="5037826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657451"/>
            <a:ext cx="4847326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기계가 아닌 사람의 정성과 손길을 강조하는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619351"/>
            <a:ext cx="3778370" cy="743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657451"/>
            <a:ext cx="3587870" cy="6671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수제, 돌봄, 고급 서비스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신뢰·기술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📊 데이터로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측정과 기록을 근거로 결과를 보여주는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건강, 학습, 성과 관리 서비스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382647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420747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🏅 인증으로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382647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420747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공신력 있는 인증·수상·검사로 품질을 증명하는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382647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420747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식품, 의료, 유아, 전문 서비스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318891"/>
            <a:ext cx="230900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356991"/>
            <a:ext cx="211850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🥗 건강하게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318891"/>
            <a:ext cx="503782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356991"/>
            <a:ext cx="484732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재료·방식·효과에서 건강을 앞세우는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318891"/>
            <a:ext cx="3778370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356991"/>
            <a:ext cx="3587870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식품, 운동, 생활용품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가치·가격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🏷 저렴하게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같은 가치를 더 낮은 가격에 제공하는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가격에 민감한 시장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230773"/>
            <a:ext cx="2309004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268873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💰 비싸게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230773"/>
            <a:ext cx="5037826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268873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일부러 높은 가격으로 품질과 가치를 보여주는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230773"/>
            <a:ext cx="3778370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268873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프리미엄, 명품, 전문 서비스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015143"/>
            <a:ext cx="2309004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053243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🆓 무료로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015143"/>
            <a:ext cx="5037826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053243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일부 또는 전부를 무료로 제공해 진입 장벽을 낮추는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015143"/>
            <a:ext cx="3778370" cy="78437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053243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초기 고객 확보, 부분 유료화(프리미엄) 모델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3799513"/>
            <a:ext cx="2309004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628650" y="3837613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🔁 구독으로</a:t>
            </a:r>
          </a:p>
        </p:txBody>
      </p:sp>
      <p:sp>
        <p:nvSpPr>
          <p:cNvPr id="31" name="도형 31"/>
          <p:cNvSpPr/>
          <p:nvPr/>
        </p:nvSpPr>
        <p:spPr>
          <a:xfrm>
            <a:off x="2842404" y="3799513"/>
            <a:ext cx="5037826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2937654" y="3837613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정기적으로 받아보는 구독 형태로 제공하는 차별화.</a:t>
            </a:r>
          </a:p>
        </p:txBody>
      </p:sp>
      <p:sp>
        <p:nvSpPr>
          <p:cNvPr id="33" name="도형 33"/>
          <p:cNvSpPr/>
          <p:nvPr/>
        </p:nvSpPr>
        <p:spPr>
          <a:xfrm>
            <a:off x="7880230" y="3799513"/>
            <a:ext cx="3778370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7975480" y="3837613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반복 소비 상품(식품, 생활용품, 콘텐츠)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4583884"/>
            <a:ext cx="2309004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4621984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🔖 한정판으로</a:t>
            </a:r>
          </a:p>
        </p:txBody>
      </p:sp>
      <p:sp>
        <p:nvSpPr>
          <p:cNvPr id="37" name="도형 37"/>
          <p:cNvSpPr/>
          <p:nvPr/>
        </p:nvSpPr>
        <p:spPr>
          <a:xfrm>
            <a:off x="2842404" y="4583884"/>
            <a:ext cx="5037826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2937654" y="4621984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수량·기간·대상을 한정해 희소성을 만드는 차별화.</a:t>
            </a:r>
          </a:p>
        </p:txBody>
      </p:sp>
      <p:sp>
        <p:nvSpPr>
          <p:cNvPr id="39" name="도형 39"/>
          <p:cNvSpPr/>
          <p:nvPr/>
        </p:nvSpPr>
        <p:spPr>
          <a:xfrm>
            <a:off x="7880230" y="4583884"/>
            <a:ext cx="3778370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7975480" y="4621984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팬덤이 있는 브랜드, 신제품 출시</a:t>
            </a:r>
          </a:p>
        </p:txBody>
      </p:sp>
      <p:sp>
        <p:nvSpPr>
          <p:cNvPr id="41" name="도형 41"/>
          <p:cNvSpPr/>
          <p:nvPr/>
        </p:nvSpPr>
        <p:spPr>
          <a:xfrm>
            <a:off x="533400" y="5081107"/>
            <a:ext cx="2309004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628650" y="5119207"/>
            <a:ext cx="2118504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✅ 보장해서</a:t>
            </a:r>
          </a:p>
        </p:txBody>
      </p:sp>
      <p:sp>
        <p:nvSpPr>
          <p:cNvPr id="43" name="도형 43"/>
          <p:cNvSpPr/>
          <p:nvPr/>
        </p:nvSpPr>
        <p:spPr>
          <a:xfrm>
            <a:off x="2842404" y="5081107"/>
            <a:ext cx="5037826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2937654" y="5119207"/>
            <a:ext cx="4847326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결과나 품질을 약속하고 책임지는 차별화.</a:t>
            </a:r>
          </a:p>
        </p:txBody>
      </p:sp>
      <p:sp>
        <p:nvSpPr>
          <p:cNvPr id="45" name="도형 45"/>
          <p:cNvSpPr/>
          <p:nvPr/>
        </p:nvSpPr>
        <p:spPr>
          <a:xfrm>
            <a:off x="7880230" y="5081107"/>
            <a:ext cx="3778370" cy="784370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7975480" y="5119207"/>
            <a:ext cx="3587870" cy="7081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결과가 불확실하거나 가격이 높은 상품</a:t>
            </a:r>
          </a:p>
        </p:txBody>
      </p:sp>
      <p:sp>
        <p:nvSpPr>
          <p:cNvPr id="47" name="도형 47"/>
          <p:cNvSpPr/>
          <p:nvPr/>
        </p:nvSpPr>
        <p:spPr>
          <a:xfrm>
            <a:off x="533400" y="5865477"/>
            <a:ext cx="2309004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628650" y="5903577"/>
            <a:ext cx="2118504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🥄 소분해서</a:t>
            </a:r>
          </a:p>
        </p:txBody>
      </p:sp>
      <p:sp>
        <p:nvSpPr>
          <p:cNvPr id="49" name="도형 49"/>
          <p:cNvSpPr/>
          <p:nvPr/>
        </p:nvSpPr>
        <p:spPr>
          <a:xfrm>
            <a:off x="2842404" y="5865477"/>
            <a:ext cx="5037826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2937654" y="5903577"/>
            <a:ext cx="4847326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큰 단위를 작게 나눠 부담 없이 사게 하는 차별화.</a:t>
            </a:r>
          </a:p>
        </p:txBody>
      </p:sp>
      <p:sp>
        <p:nvSpPr>
          <p:cNvPr id="51" name="도형 51"/>
          <p:cNvSpPr/>
          <p:nvPr/>
        </p:nvSpPr>
        <p:spPr>
          <a:xfrm>
            <a:off x="7880230" y="5865477"/>
            <a:ext cx="3778370" cy="497223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975480" y="5903577"/>
            <a:ext cx="3587870" cy="42102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1인 가구, 신제품 체험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가치·가격 묶음 : 차별화 카드 10장 비교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이름 · 한 줄 설명 · 어울리는 경우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30900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118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카드</a:t>
            </a:r>
          </a:p>
        </p:txBody>
      </p:sp>
      <p:sp>
        <p:nvSpPr>
          <p:cNvPr id="7" name="도형 7"/>
          <p:cNvSpPr/>
          <p:nvPr/>
        </p:nvSpPr>
        <p:spPr>
          <a:xfrm>
            <a:off x="2842404" y="1352550"/>
            <a:ext cx="503782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2937654" y="1352550"/>
            <a:ext cx="484732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한 줄 설명</a:t>
            </a:r>
          </a:p>
        </p:txBody>
      </p:sp>
      <p:sp>
        <p:nvSpPr>
          <p:cNvPr id="9" name="도형 9"/>
          <p:cNvSpPr/>
          <p:nvPr/>
        </p:nvSpPr>
        <p:spPr>
          <a:xfrm>
            <a:off x="7880230" y="1352550"/>
            <a:ext cx="3778370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7975480" y="1352550"/>
            <a:ext cx="358787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1" name="도형 11"/>
          <p:cNvSpPr/>
          <p:nvPr/>
        </p:nvSpPr>
        <p:spPr>
          <a:xfrm>
            <a:off x="533400" y="1733550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28650" y="1771650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🎀 묶어서</a:t>
            </a:r>
          </a:p>
        </p:txBody>
      </p:sp>
      <p:sp>
        <p:nvSpPr>
          <p:cNvPr id="13" name="도형 13"/>
          <p:cNvSpPr/>
          <p:nvPr/>
        </p:nvSpPr>
        <p:spPr>
          <a:xfrm>
            <a:off x="2842404" y="1733550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2937654" y="1771650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여러 상품을 한 세트로 묶어 편리함과 가격 이점을 주는 차별화.</a:t>
            </a:r>
          </a:p>
        </p:txBody>
      </p:sp>
      <p:sp>
        <p:nvSpPr>
          <p:cNvPr id="15" name="도형 15"/>
          <p:cNvSpPr/>
          <p:nvPr/>
        </p:nvSpPr>
        <p:spPr>
          <a:xfrm>
            <a:off x="7880230" y="1733550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7975480" y="1771650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함께 쓰는 상품이 많을 때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2669794"/>
            <a:ext cx="2309004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2707894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🔑 빌려서</a:t>
            </a:r>
          </a:p>
        </p:txBody>
      </p:sp>
      <p:sp>
        <p:nvSpPr>
          <p:cNvPr id="19" name="도형 19"/>
          <p:cNvSpPr/>
          <p:nvPr/>
        </p:nvSpPr>
        <p:spPr>
          <a:xfrm>
            <a:off x="2842404" y="2669794"/>
            <a:ext cx="5037826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2937654" y="2707894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소유 대신 빌려 쓰게 하는 차별화.</a:t>
            </a:r>
          </a:p>
        </p:txBody>
      </p:sp>
      <p:sp>
        <p:nvSpPr>
          <p:cNvPr id="21" name="도형 21"/>
          <p:cNvSpPr/>
          <p:nvPr/>
        </p:nvSpPr>
        <p:spPr>
          <a:xfrm>
            <a:off x="7880230" y="2669794"/>
            <a:ext cx="3778370" cy="936244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975480" y="2707894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비싸고 가끔 쓰는 물건, 유행이 빠른 상품</a:t>
            </a:r>
          </a:p>
        </p:txBody>
      </p:sp>
      <p:sp>
        <p:nvSpPr>
          <p:cNvPr id="23" name="도형 23"/>
          <p:cNvSpPr/>
          <p:nvPr/>
        </p:nvSpPr>
        <p:spPr>
          <a:xfrm>
            <a:off x="533400" y="3606038"/>
            <a:ext cx="230900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28650" y="3644138"/>
            <a:ext cx="211850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💎 고급스럽게</a:t>
            </a:r>
          </a:p>
        </p:txBody>
      </p:sp>
      <p:sp>
        <p:nvSpPr>
          <p:cNvPr id="25" name="도형 25"/>
          <p:cNvSpPr/>
          <p:nvPr/>
        </p:nvSpPr>
        <p:spPr>
          <a:xfrm>
            <a:off x="2842404" y="3606038"/>
            <a:ext cx="503782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2937654" y="3644138"/>
            <a:ext cx="484732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재료·디자인·서비스의 수준을 높여 품격을 보여주는 차별화.</a:t>
            </a:r>
          </a:p>
        </p:txBody>
      </p:sp>
      <p:sp>
        <p:nvSpPr>
          <p:cNvPr id="27" name="도형 27"/>
          <p:cNvSpPr/>
          <p:nvPr/>
        </p:nvSpPr>
        <p:spPr>
          <a:xfrm>
            <a:off x="7880230" y="3606038"/>
            <a:ext cx="3778370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7975480" y="3644138"/>
            <a:ext cx="3587870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선물, 호텔, 프리미엄 상품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🛰 원격으로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멀리서 · 이동 비용 · 접근성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사람이 현장에 가지 않고 멀리서 제어·진행할 수 있게 하는 차별화 / 시간과 이동 비용을 줄이고 접근성을 높임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이동이 어렵거나 시간이 부족한 고객을 만날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연결 장애와 보안 문제를 미리 대비해야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로봇청소기 앱 ‘쓱’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원격 상담 서비스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외출 중에도 스마트폰으로 청소를 예약·시작.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집에서 영상으로 전문가 상담을 받음.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서비스 중 현장에 가야만 하는 부분은?   ② 원격으로 바꾸면 고객이 얻는 이득은?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🧵 맞춤형으로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취향 · 나만을 위한 · 만족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 한 사람 한 사람의 취향·치수·상황에 맞춰 제공하는 차별화 / 나만을 위한 제품이라는 만족을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취향 차이가 크고 개인별 만족이 중요한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제작 시간과 비용이 늘어날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맞춤 정장 ‘핏마루’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맞춤 영양제 구독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체형을 측정해 한 벌씩 제작.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설문 결과로 성분을 조합해 배송.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고객마다 다르게 해 줄 수 있는 부분은?   ② 맞춤을 어디까지 허용할까?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😖 불편하게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불편함 · 안전 · 절제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일부러 불편함을 주어 안전·집중·절제의 가치를 만드는 차별화 / 불편함이 브랜드의 존재 이유가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안전, 집중, 절제가 목적인 상품과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불편함이 불만으로 번지지 않도록 이유를 알려야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폰 잠금 보관함 ‘락인’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조용한 도서관 카페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열기 번거로운 보관함으로 스마트폰 사용 줄이기.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대화 대신 집중을 위한 규칙을 운영.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‘불편해도 괜찮다’고 느끼는 이유는?   ② 불편을 즐거움으로 바꿀 방법은?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📦 제품으로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실물 · 손에 잡히는 · 소장 가치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서비스가 아니라 눈에 보이는 실물 제품으로 가치를 전달하는 차별화 / 손에 잡히는 경험과 소장 가치를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무형 서비스를 상품화하고 싶을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재고와 제조·배송 부담이 생김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온라인 강의 → 학습 키트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앱 → 굿즈 박스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강의 내용을 실습 재료와 함께 박스로 제작.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앱 캐릭터를 인형·문구로 제작.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서비스를 물건으로 만든다면?   ② 고객이 갖고 싶어 할 이유는?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🎯 집중해서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한 가지 · 전문성 · 기억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한 가지 분야·한 가지 고객에 집중해 전문성을 높이는 차별화 / 다 하는 곳보다 하나를 제대로 하는 곳으로 기억됨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경쟁이 치열해 ‘넓게’로는 승산이 없을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시장이 너무 좁아질 위험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김치 전문점 ‘김치랩’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왼손잡이 전용 문구점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김치만 연구해 종류와 품질로 승부.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한 고객층의 불편만 집중 해결.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우리가 가장 잘하는 단 하나는?   ② 집중하면 포기해야 하는 것은?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✂️ 분리해서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따로 떼어 · 필요한 것만 · 비용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묶여 있던 서비스나 가격을 따로 떼어 필요한 것만 선택하게 하는 차별화 / 불필요한 비용을 줄여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고객마다 필요한 범위가 다를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선택이 너무 복잡해지면 오히려 불편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인테리어 ‘필요한 만큼’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보험 ‘필요한 보장만’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디자인·시공·자재를 따로 선택.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보장을 항목별로 나눠 구성.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지금 한 묶음으로 파는 것 중 나눌 수 있는 것은?   ② 나누면 고객이 선택하기 쉬울까?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🤲 공유해서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함께 쓰게 · 비용 · 자원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혼자 소유하지 않고 함께 쓰게 하여 비용과 자원을 줄이는 차별화 / 공유 경제의 대표적인 방법임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사용 빈도는 낮고 값은 비싼 물건·공간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관리, 분실, 위생 문제를 해결해야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공구 대여 ‘빌려쓰기’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공유 주방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동네 주민이 공구를 나눠 사용.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여러 사업자가 시간대별로 주방을 사용.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고객이 자주 안 쓰는 값비싼 물건은?   ② 공유할 때 가장 걱정되는 점은?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🧲 결합해서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합쳐 · 새로운 가치 · 새로움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서로 다른 두 가지를 합쳐 새로운 가치를 만드는 차별화 / 합쳐서 생기는 새로움이 경쟁 제품과의 차이가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두 시장의 고객이 겹칠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둘 다 어정쩡해질 위험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서점 + 카페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운동 + 보험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책을 읽으며 머무는 공간으로 결합.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운동량에 따라 보험료 할인.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제품과 결합하면 시너지가 날 분야는?   ② 결합 후에도 핵심이 흐려지지 않을까?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🤖 인공지능으로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분석 · 추천 · 개인별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인공지능이 분석·추천·응대를 대신해 더 똑똑하게 제공하는 차별화 / 개인별 서비스를 낮은 비용으로 확대함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데이터가 쌓이는 서비스, 반복 상담이 많은 사업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오류, 개인정보, AI 신뢰 문제를 관리해야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AI 식단 추천 앱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쇼핑몰 AI 상담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식습관을 분석해 주간 식단을 제안.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24시간 사이즈·배송 문의에 답변.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AI가 대신해 줄 수 있는 반복 업무는?   ② AI가 틀렸을 때 어떻게 대처할까?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🪄 편리하게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시간 · 노력 · 단계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고객이 들이는 시간·노력을 줄여 쓰기 쉽게 만드는 차별화 / 클릭 수와 단계를 줄이는 것이 핵심임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반복해서 사용하는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편리함만으로는 쉽게 따라잡힘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원터치 결제 앱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정기 배송 세탁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결제 단계를 한 번으로 단축.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현관 앞에서 수거·배송.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가장 번거로워하는 단계는?   ② 그 단계를 없앨 방법은?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🙃 반대로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정반대 · 당연함 · 뒤집어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남들과 정반대로 생각하고 실행하는 차별화 / 업계의 당연함을 뒤집어 눈에 띔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모든 경쟁사가 비슷한 방식으로 일할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고객이 이해하지 못하면 외면받음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‘일찍 닫는 식당’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광고 없는 브랜드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저녁 7시에 문을 닫아 직원 만족과 신선함 강조.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광고비를 제품 품질에 투자.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업계의 ‘당연한 규칙’은?   ② 그 규칙을 뒤집으면 어떤 장점이 생길까?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🔬 축소해서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줄여 · 가볍고 · 1인 가구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크기·양·기능을 줄여 가볍고 부담 없이 쓰게 하는 차별화 / 1인 가구와 휴대용 시장에 효과적임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1인 가구, 이동·보관이 불편한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가격 대비 양이 적다는 불만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미니 전기밥솥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소포장 반찬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1~2인용으로 작게 설계.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한 번에 먹을 양만 담아 판매.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제품의 크기·양을 줄이면 누가 좋아할까?   ② 줄여도 포기하면 안 되는 핵심은?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🔭 확장해서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넓혀 · 더 큰 가치 · 생태계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범위·기능·대상을 넓혀 더 큰 가치를 주는 차별화 / 하나의 제품을 플랫폼·생태계로 키움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핵심 고객이 이미 있고 연관 수요가 클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선택과 집중이 흐려질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배달 앱 → 장보기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학원 → 온라인 강의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식당 배달에서 식료품까지 확장.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지역을 넘어 전국 수강생 확보.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지금 고객이 다음에 필요로 할 것은?   ② 확장해도 품질을 지킬 수 있을까?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🌍 사회적으로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사회 · 공동체 · 좋은 일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사회 문제 해결이나 공동체의 가치를 담는 차별화 / 구매가 곧 좋은 일이 되도록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고객이 많고 기업 이미지가 중요할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진정성이 없으면 역효과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기부 연계 제품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장애인 고용 카페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한 개 팔면 한 개를 기부.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일자리 창출을 브랜드 가치로.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사업과 연결되는 사회 문제는?   ② 고객이 ‘참여한다’고 느낄 방법은?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🦄 말도안되게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상식 · 화제 · 호기심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상식을 벗어난 아이디어로 화제와 호기심을 만드는 차별화 / 이야기해 주고 싶은 브랜드가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화제성이 곧 마케팅인 시장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실현 가능성, 안전, 법규를 반드시 확인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1미터 롱 샌드위치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거꾸로 가는 시계 카페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크기만으로 사진 공유를 유도.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시간이 거꾸로 흐르는 콘셉트 매장.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남들이 ‘말도 안 된다’고 할 아이디어는?   ② 그중 실제로 해 볼 수 있는 것은?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💻 온라인으로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인터넷 · 시간 · 장소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오프라인에서 하던 일을 인터넷·앱으로 옮겨 제공하는 차별화 / 시간과 장소의 제약을 없앰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전국 고객, 24시간 이용이 필요할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신뢰, 배송, 고객 응대 문제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온라인 클래스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비대면 상담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공방 수업을 영상과 키트로 제공.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상담을 화상으로 진행.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온라인으로 옮길 수 있는 오프라인 서비스는?   ② 온라인에서 믿음을 주려면?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👥 커뮤니티로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모여 · 소통 · 소속감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고객이 모여 소통하는 공간을 만들어 소속감을 주는 차별화 / 팬이 팬을 불러옴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취미·관심사가 뚜렷한 고객층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운영 인력과 관리 부담, 활성화에 시간이 걸림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러닝 크루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독서 모임 서점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함께 달리는 모임으로 브랜드 팬 형성.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정기 모임으로 단골 확보.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고객들이 서로 나눌 이야기는?   ② 커뮤니티 운영을 누가 맡을까?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🏷 저렴하게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낮은 가격 · 원가 · 효율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같은 가치를 더 낮은 가격에 제공하는 차별화 / 원가 구조와 운영 효율이 뒷받침되어야 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가격에 민감한 시장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품질 저하 인식과 가격 경쟁의 늪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산지 직거래 농산물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무인 매장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유통 단계를 줄여 가격을 낮춤.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인건비를 줄여 가격에 반영.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원가를 줄일 수 있는 부분은?   ② 싸다는 이유만으로 선택받을까?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💰 비싸게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높은 가격 · 품질 · 메시지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일부러 높은 가격으로 품질과 가치를 보여주는 차별화 / 가격이 곧 브랜드의 메시지가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프리미엄, 명품, 전문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가격을 정당화할 근거가 필요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수제 구두 ‘장인’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프리미엄 코칭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주문 제작과 평생 수선으로 고가 책정.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소수 정예 고가 프로그램.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가격이 높아도 고객이 사는 이유는?   ② 높은 가격에 어울리는 서비스는?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🐢 느리게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천천히 · 정성 · 기다림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빠름이 당연한 시장에서 천천히 정성스럽게 만드는 차별화 / 기다림이 가치가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슬로푸드, 수제, 여유를 파는 사업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기다림에 대한 불만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48시간 숙성 빵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슬로 여행 상품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오래 걸리지만 깊은 맛을 강조.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빡빡한 일정 대신 한 곳에 머무는 여행.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천천히 해서 더 좋아지는 것은?   ② 기다리는 시간을 즐겁게 만들려면?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🚀 빠르게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더 빨리 · 시간 가치 · 속도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더 빨리 제공하는 것으로 시간 가치를 주는 차별화 / 속도 자체가 경쟁력이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급하게 필요한 상품·서비스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속도를 지키지 못하면 신뢰가 크게 하락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30분 배송 마트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당일 수선 서비스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동네 거점 배송으로 속도 확보.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아침에 맡기면 저녁에 완료.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가장 기다리기 싫은 순간은?   ② 속도를 낼 수 있는 방법은?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🧪 체험할 수 있게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직접 · 체험 · 확신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구매 전에 직접 써 보고 느끼게 하는 차별화 / 불안을 줄이고 확신을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가격이 높거나 취향을 타는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체험 비용과 체험만 하고 가는 고객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한복 체험 샵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시향 키트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입어 보고 사진을 찍은 뒤 구매·대여.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향수를 소량으로 먼저 체험.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구매 전 가장 불안한 점은?   ② 체험 후 구매로 이어지게 하려면?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🏗 플랫폼으로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연결 · 참여자 · 가치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판매자와 구매자를 연결하는 장(場)을 만드는 차별화 / 참여자가 늘수록 가치가 커짐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공급자와 수요자를 모을 수 있을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초기에 양쪽을 모으기 어려움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동네 재능 거래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농가 직거래 장터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주민이 재능을 사고파는 앱.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농가와 소비자를 직접 연결.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우리가 연결할 수 있는 두 집단은?   ② 처음 100명을 어떻게 모을까?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🏪 오프라인으로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현장 · 직접 만나고 · 신뢰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온라인이 아닌 현장에서 직접 만나고 경험하게 하는 차별화 / 감각적 경험과 신뢰를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직접 보고 만져야 하는 상품, 지역 고객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임대료와 인력 비용, 지역 한계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체험형 가구 매장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방문 수리 서비스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직접 앉아 보고 고르는 쇼룸.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 집으로 찾아가 수리.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온라인이 줄 수 없는 경험은?   ② 오프라인 경험을 온라인과 연결하려면?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⚪ 심플하게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단순하게 · 이해 · 쉽게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기능·디자인·절차를 단순하게 줄여 이해와 사용을 쉽게 하는 차별화.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복잡한 시장, 초보 고객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단순해서 허전해 보일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메뉴 3개 식당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한 장 계약서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가장 잘하는 3가지만 판매.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복잡한 조항을 한 장으로 정리.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빼도 되는 기능이나 단계는?   ② 단순해져도 지켜야 할 핵심은?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🌈 다양하게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제품·구성  ·  핵심어 : 선택지 · 풍부하게 · 폭넓게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선택지를 풍부하게 제공해 고객 취향을 폭넓게 만족시키는 차별화.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 취향 차이가 클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재고와 관리 비용, 선택 피로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100가지 색 연필 가게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맛 20종 아이스크림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색 선택의 즐거움을 판매.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매주 새로운 맛 추가.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선택지를 늘릴 수 있는 부분은?   ② 선택이 너무 많아지지 않게 하려면?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🧑‍🔧 대신해서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대신 · 시간 · 수고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고객이 하기 싫거나 어려운 일을 대신 해 주는 차별화 / 시간과 수고를 판매함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바쁜 직장인, 어렵고 번거로운 일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책임과 품질 관리, 대행 신뢰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줄서기·장보기 대행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이사 정리 대행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 대신 대기하고 구매.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짐 정리를 대신해 줌.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가장 하기 싫은 일은?   ② 대신해 주고 얼마를 받을 수 있을까?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🙌 직접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직접 · 참여 · 경험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고객이 직접 참여·체험·수확·제작하게 하는 차별화 / 직접 해 본 경험이 만족과 이야기를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체험 가치가 큰 분야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안전과 준비 비용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딸기 따기 체험 농장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도자기 공방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가족이 직접 수확하고 구매.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내 손으로 만든 그릇을 가져감.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직접 하면 더 즐거운 부분은?   ② 직접 하게 할 때 안전 문제는?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🎞 콘텐츠로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정보 · 이야기 · 영상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정보·이야기·영상 같은 콘텐츠로 고객을 끌어들이는 차별화 / 팔기 전에 먼저 도움을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구매 전에 정보 탐색이 중요한 분야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꾸준한 제작이 필요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레시피 영상 밀키트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육아 칼럼 쇼핑몰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요리 영상으로 구매 유도.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육아 정보로 신뢰와 방문 확보.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궁금해하는 정보는?   ② 콘텐츠에서 구매로 이어질 연결 고리는?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🆓 무료로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무료 · 진입 장벽 · 유료 전환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일부 또는 전부를 무료로 제공해 진입 장벽을 낮추는 차별화 / 이후 유료 전환이나 다른 수익으로 이어짐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초기 고객 확보, 부분 유료화(프리미엄) 모델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수익 모델 없이는 무료를 지속할 수 없음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기본 무료 앱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첫 상담 무료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기본 기능은 무료, 고급 기능은 유료.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상담 후 서비스 계약으로 연결.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무료로 줄 부분과 유료로 받을 부분은?   ② 무료 고객이 유료로 바뀔 이유는?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🔁 구독으로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정기적으로 · 구독 · 안정적인 수익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정기적으로 받아보는 구독 형태로 제공하는 차별화 / 고객은 편하고 기업은 안정적인 수익을 얻음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반복 소비 상품(식품, 생활용품, 콘텐츠)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구독 해지가 어렵거나 가치가 줄면 불만이 커짐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꽃 구독 ‘매주꽃’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면도날 구독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매주 새 꽃을 집으로 배송.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떨어지기 전에 자동 배송.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매달 필요로 하는 것은?   ② 구독을 계속할 이유는?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♻️ 친환경으로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환경 · 재료 · 가치 소비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환경에 부담을 덜 주는 재료·방식으로 만드는 차별화 / 가치 소비 고객에게 선택의 이유가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고객, ESG를 중시하는 기업 고객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과장된 친환경 표시는 신뢰를 잃음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리필 세제 가게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비건 가죽 가방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빈 용기를 가져와 리필.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동물 가죽 대신 식물 소재.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제품에서 줄일 수 있는 쓰레기는?   ② 친환경임을 어떻게 증명할까?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🪟 투명하게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공개 · 믿음 · 숨김없는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원가·재료·과정을 숨기지 않고 공개하는 차별화 / 숨김없는 모습이 믿음이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불신이 큰 시장(식품, 금융, 중개)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공개한 내용을 반드시 지켜야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원가 공개 의류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생산 과정 생중계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원단·인건비·마진을 그대로 공개.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주방 영상을 실시간 공개.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의심하는 부분은?   ② 공개하면 어떤 점이 더 좋아 보일까?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🔖 한정판으로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수량 · 희소성 · 지금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수량·기간·대상을 한정해 희소성을 만드는 차별화 / 지금 사야 한다는 이유를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팬덤이 있는 브랜드, 신제품 출시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남발하면 효과가 줄고 재고 부담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시즌 한정 라떼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넘버링 굿즈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가을 한 달만 판매.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1000개만 제작해 번호 부여.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한정할 수 있는 요소(수량, 기간, 디자인)는?   ② 한정 후에도 고객이 남아 있을까?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🤝 협업으로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다른 브랜드 · 함께 · 새로운 가치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다른 브랜드·작가·전문가와 함께 만드는 차별화 / 서로의 팬을 만나 새로운 가치를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새로운 고객층을 만나고 싶을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역할과 수익 배분을 분명히 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치킨 × 맥주 브랜드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작가 협업 에코백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세트 메뉴를 공동 개발.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일러스트레이터와 한정판 제작.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우리와 어울리는 협업 상대는?   ② 서로에게 줄 이익은?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🪪 개인화해서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이름 · 선호 · 개인별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고객의 이름·기록·선호를 반영해 개인별로 다르게 보여주는 차별화 / ‘나를 아는 서비스’라고 느끼게 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 데이터가 쌓이는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개인정보 활용 동의와 보안 필수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이름 새긴 선물 세트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구매 기록 기반 추천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주문 시 이름·문구 각인.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지난 구매를 반영한 제안.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 이름이나 취향을 어디에 활용할까?   ② 어떤 정보를 얻어도 괜찮을까?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🎮 게임처럼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미션 · 점수 · 보상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미션·점수·보상 같은 게임 요소를 넣어 재미와 참여를 높이는 차별화 / 반복 사용을 자연스럽게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습관 형성, 교육, 포인트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보상에만 집중하면 본질이 흐려짐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걷기 앱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학습 앱 스탬프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걸음 수로 레벨업·쿠폰 지급.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공부할 때마다 스탬프 적립.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달성할 수 있는 작은 미션은?   ② 어떤 보상이 가장 동기를 줄까?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⚙️ 자동으로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알아서 · 반복 · 실수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사람이 하지 않아도 알아서 처리되는 차별화 / 반복 업무와 실수를 줄임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반복되는 주문·관리·결제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자동화 오류가 생겼을 때 대응이 필요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자동 재주문 서비스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자동 일정 알림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재고가 떨어지면 자동 주문.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예약 확인을 자동 문자로.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반복하는 일 중 자동화할 수 있는 것은?   ② 자동화가 실패하면 어떻게 할까?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🛡 안전하게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안전 · 보안 · 안심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안전·보안·위생을 가장 앞세우는 차별화 / 믿고 맡길 수 있다는 안심을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아이, 식품, 의료, 금융 분야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안전 근거를 제시하지 못하면 신뢰를 잃음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아기 이유식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간편 송금 앱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재료 검사 결과를 공개.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이중 인증과 보호 정책 강조.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가장 불안해하는 위험은?   ② 안전하다는 것을 어떻게 증명할까?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💖 감성적으로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감정 · 분위기 · 경험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기능보다 감정과 분위기로 마음을 움직이는 차별화 / 기억에 남는 경험을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카페, 숙박, 선물, 공간 사업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감성에만 의존하면 반복 구매가 약해질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손편지 동봉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조명 카페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주문마다 손글씨 편지를 넣음.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따뜻한 조명과 음악으로 분위기 강조.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느끼길 원하는 감정은?   ② 그 감정을 만드는 작은 디테일은?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🎓 전문적으로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자격 · 경력 · 전문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자격·경력·전문 지식을 앞세워 믿고 맡기게 하는 차별화 / 전문가라는 확신이 선택 이유가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결과를 평가하기 어려운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전문성을 알릴 근거(경력, 자격)가 필요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반려견 행동 교정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세무 상담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수의사·훈련사 공동 상담.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세무사가 직접 응대.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우리의 전문성을 보여줄 근거는?   ② 전문 용어를 쉽게 설명하려면?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✅ 보장해서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약속 · 책임 · 불안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결과나 품질을 약속하고 책임지는 차별화 / 불안을 없애 구매를 쉽게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결과가 불확실하거나 가격이 높은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보장 조건을 지킬 수 있어야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30일 환불 보장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수리 5년 보증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마음에 안 들면 전액 환불.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5년간 무상 수리.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구매를 망설이는 이유는?   ② 어떤 보장을 할 수 있을까?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📖 이야기로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사연 · 스토리 · 공감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제품 뒤의 사연과 스토리로 공감을 만드는 차별화 / 이야기가 있는 물건이 기억됨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창업 스토리, 장인, 지역 브랜드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꾸며낸 이야기는 신뢰를 해침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할머니 레시피 장아찌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폐업 위기 공방의 재탄생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3대째 이어진 비법을 소개.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극복 과정을 영상으로.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브랜드에 숨은 이야기는?   ② 그 이야기를 어디에서 들려줄까?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📍 지역 기반으로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지역 · 재료 · 문화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지역의 재료·사람·문화를 기반으로 하는 차별화 / 지역만의 매력으로 특별해짐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로컬 브랜드, 관광, 농특산물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지역 한정 이미지로 확장이 어려울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제주 감귤 잼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동네 골목 투어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제주 농가 재료로 제작.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동네 가게를 연결한 산책 코스.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지역만의 재료와 이야기는?   ② 지역 밖 고객에게 어떻게 알릴까?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🕛 24시간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언제든 · 시간 · 필요한 순간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언제든 이용할 수 있도록 시간 제한을 없애는 차별화 / 고객이 필요한 순간에 곁에 있음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야간·긴급·무인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운영 비용과 안전·보안 관리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무인 빨래방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24시간 약 배달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새벽에도 이용 가능.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야간에도 약을 배송.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밤이나 주말에 겪는 불편은?   ② 24시간 운영 비용을 어떻게 줄일까?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📱 모바일로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스마트폰 · 예약 · 언제 어디서나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스마트폰 하나로 예약·주문·결제·관리를 끝내는 차별화 / 언제 어디서나 이용하게 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젊은 고객, 이동 중 이용이 많은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작은 화면에서 쓰기 쉽게 설계해야 함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모바일 주문 카페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모바일 회원증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줄 서지 않고 앱으로 주문.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실물 카드 대신 QR 사용.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스마트폰으로 줄일 수 있는 단계는?   ② 앱을 설치하게 만드는 이유는?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👨‍👩‍👧 함께해서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여럿 · 공동 · 단체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여럿이 함께하는 형태로 가격과 재미를 높이는 차별화 / 공동 구매·단체 이용에 효과적임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가족, 동호회, 이웃 단위 고객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참여자 모집과 조율 부담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동네 공동 구매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가족 요금제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이웃이 모이면 할인.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가족이 함께 가입하면 할인.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함께하면 더 좋아지는 우리 서비스는?   ② 참여자를 모으는 방법은?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🥄 소분해서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작게 나눠 · 부담 · 조금만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큰 단위를 작게 나눠 부담 없이 사게 하는 차별화 / 처음 써 보거나 조금만 필요한 고객에게 알맞음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1인 가구, 신제품 체험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포장 비용과 쓰레기 증가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샘플 키트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소포장 쌀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화장품을 소용량으로 구성.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1~2인용 500g 포장.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한 번에 쓰는 양은?   ② 소분 포장의 환경 문제를 줄이려면?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🎀 묶어서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세트 · 묶어 · 구성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여러 상품을 한 세트로 묶어 편리함과 가격 이점을 주는 차별화 / 구성의 힘으로 선택을 쉽게 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함께 쓰는 상품이 많을 때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불필요한 상품이 섞이면 불만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캠핑 입문 세트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신혼 가전 패키지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텐트·의자·랜턴을 한 번에.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필수 가전을 묶어 할인.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항상 함께 구매하는 상품은?   ② 묶었을 때 가격 혜택은?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🔑 빌려서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빌려 · 필요한 기간 · 큰 비용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소유 대신 빌려 쓰게 하는 차별화 / 큰 비용 없이 필요한 기간만 이용함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비싸고 가끔 쓰는 물건, 유행이 빠른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관리, 파손, 보증금 문제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아기용품 대여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정장 렌탈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커서 못 쓰는 용품을 대여.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행사 때만 빌려 입기.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구매 대신 대여하면 좋은 상품은?   ② 대여 가격은 어떻게 정할까?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✋ 사람 손으로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사람 · 정성 · 손길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기계가 아닌 사람의 정성과 손길을 강조하는 차별화 / 온기와 신뢰가 가치가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수제, 돌봄, 고급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생산량 한계와 높은 인건비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수제 비누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전화 상담 우선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장인이 하나씩 손으로 제작.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챗봇 대신 사람이 직접 응대.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사람이 해야 가치가 사는 부분은?   ② 손길을 어떻게 보여줄까?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📊 데이터로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측정 · 기록 · 숫자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측정과 기록을 근거로 결과를 보여주는 차별화 / 감이 아닌 숫자로 신뢰를 만듦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건강, 학습, 성과 관리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데이터 보안과 해석 오류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수면 분석 베개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학습 리포트 서비스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수면 데이터를 분석해 추천.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학습량과 성적을 그래프로 제공.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고객에게 보여줄 수 있는 숫자는?   ② 데이터를 어떻게 쉽게 설명할까?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⭐ 후기로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후기 · 평점 · 경험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실제 사용자의 후기와 평점을 핵심 근거로 삼는 차별화 / 남이 먼저 써 본 경험이 선택을 돕음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처음 보는 브랜드, 신제품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가짜 후기는 치명적인 신뢰 손실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후기 공개 쇼핑몰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사진 후기 이벤트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별점 낮은 후기도 숨기지 않음.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고객 사진을 상세 페이지에 활용.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후기를 모으는 방법은?   ② 부정 후기에는 어떻게 답할까?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🏅 인증으로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인증 · 수상 · 객관적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공신력 있는 인증·수상·검사로 품질을 증명하는 차별화 / 객관적 근거가 신뢰를 높임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식품, 의료, 유아, 전문 서비스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인증의 신뢰도와 유효기간 확인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유기농 인증 농산물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우수 중소기업 선정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인증 마크와 검사 성적서 공개.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공식 선정 사실을 홍보.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우리가 받을 수 있는 인증은?   ② 인증을 어디에 보여줄까?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⏱ 즉시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방식·채널  ·  핵심어 : 즉시 · 바로 · 기다림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주문과 동시에 바로 받거나 바로 이용하게 하는 차별화 / 기다림 없는 만족을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디지털 상품, 급한 수요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즉시 제공하기 위한 재고·시스템 비용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전자책 즉시 다운로드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즉석 인쇄 사진관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결제 후 바로 읽기.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10분 만에 인쇄 완료.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기다리는 시간은 얼마나 될까?   ② 즉시 제공이 가능한 부분은?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🥗 건강하게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신뢰·기술  ·  핵심어 : 건강 · 재료 · 몸과 마음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재료·방식·효과에서 건강을 앞세우는 차별화 / 몸과 마음을 위한 선택임을 보여줌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식품, 운동, 생활용품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의학적 효능을 과장하면 법적 문제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저당 디저트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바른 자세 의자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설탕을 줄이고 대체 재료 사용.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척추 건강을 고려한 설계.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 제품의 건강 장점은?   ② 과장 없이 알리려면?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😆 재미있게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유쾌한 · 즐거움 · 웃게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유쾌한 표현과 경험으로 즐거움을 주는 차별화 / 웃게 만드는 브랜드는 오래 기억됨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젊은 고객, 일상 소비재, 서비스 브랜드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재미가 지나치면 진지함이 사라짐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말장난 메뉴판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반전 포장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메뉴 이름에 유머를 담음.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열 때마다 다른 문구가 나옴.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웃을 만한 순간은?   ② 재미와 신뢰의 균형은?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💎 고급스럽게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가치·가격  ·  핵심어 : 품격 · 수준 · 특별한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재료·디자인·서비스의 수준을 높여 품격을 보여주는 차별화 / 특별한 대접을 받는다는 느낌을 줌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선물, 호텔, 프리미엄 상품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가격 정당화와 일관된 품질 유지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선물용 한과 세트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예약제 레스토랑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고급 포장과 카드를 함께 제공.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소수 고객만 받아 서비스 집중.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‘고급스럽다’고 느낄 요소는?   ② 고급과 과시는 어떻게 다를까?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😇 착하게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사람·관계  ·  핵심어 : 정직한 · 공정한 · 착한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정직한 가격과 공정한 태도로 착한 소비를 가능하게 하는 차별화 / 마음 편히 살 수 있는 브랜드가 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가치 소비 고객, 지역 사회와 함께하는 사업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착한 이미지에 맞는 실제 행동이 필요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착한 가격 식당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공정 거래 커피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원가를 공개하고 적정 이윤만.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농가에 정당한 값을 지불.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우리가 지킬 수 있는 착한 약속은?   ② 착함이 매출로 이어지게 하려면?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👌 쉽게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사용 경험  ·  핵심어 : 초보자 · 이해 · 진입 장벽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276350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E8EEF7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276350"/>
            <a:ext cx="76200" cy="72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 7"/>
          <p:cNvSpPr txBox="1"/>
          <p:nvPr/>
        </p:nvSpPr>
        <p:spPr>
          <a:xfrm>
            <a:off x="762000" y="1314450"/>
            <a:ext cx="107442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초보자도 바로 이해하고 시작할 수 있게 만드는 차별화 / 진입 장벽이 낮을수록 고객이 늘어남</a:t>
            </a:r>
          </a:p>
        </p:txBody>
      </p:sp>
      <p:sp>
        <p:nvSpPr>
          <p:cNvPr id="8" name="도형 8"/>
          <p:cNvSpPr/>
          <p:nvPr/>
        </p:nvSpPr>
        <p:spPr>
          <a:xfrm>
            <a:off x="5334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도형 9"/>
          <p:cNvSpPr/>
          <p:nvPr/>
        </p:nvSpPr>
        <p:spPr>
          <a:xfrm>
            <a:off x="5334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533400" y="2238375"/>
            <a:ext cx="5448300" cy="142875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텍스트 11"/>
          <p:cNvSpPr txBox="1"/>
          <p:nvPr/>
        </p:nvSpPr>
        <p:spPr>
          <a:xfrm>
            <a:off x="6667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적합한 경우</a:t>
            </a:r>
          </a:p>
        </p:txBody>
      </p:sp>
      <p:sp>
        <p:nvSpPr>
          <p:cNvPr id="12" name="도형 12"/>
          <p:cNvSpPr/>
          <p:nvPr/>
        </p:nvSpPr>
        <p:spPr>
          <a:xfrm>
            <a:off x="6210300" y="2095500"/>
            <a:ext cx="5448300" cy="133350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240">
            <a:solidFill>
              <a:srgbClr val="B45309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도형 13"/>
          <p:cNvSpPr/>
          <p:nvPr/>
        </p:nvSpPr>
        <p:spPr>
          <a:xfrm>
            <a:off x="6210300" y="209550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6210300" y="2238375"/>
            <a:ext cx="5448300" cy="1428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텍스트 15"/>
          <p:cNvSpPr txBox="1"/>
          <p:nvPr/>
        </p:nvSpPr>
        <p:spPr>
          <a:xfrm>
            <a:off x="6343650" y="209550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주의할 점</a:t>
            </a:r>
          </a:p>
        </p:txBody>
      </p:sp>
      <p:sp>
        <p:nvSpPr>
          <p:cNvPr id="16" name="텍스트 16"/>
          <p:cNvSpPr txBox="1"/>
          <p:nvPr/>
        </p:nvSpPr>
        <p:spPr>
          <a:xfrm>
            <a:off x="6858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어렵게 느끼는 분야(투자, 외국어, 법률)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6362700" y="2476500"/>
            <a:ext cx="514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17170" indent="-2171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너무 쉽게만 하면 전문성이 떨어져 보일 수 있음</a:t>
            </a:r>
          </a:p>
        </p:txBody>
      </p:sp>
      <p:sp>
        <p:nvSpPr>
          <p:cNvPr id="18" name="도형 18"/>
          <p:cNvSpPr/>
          <p:nvPr/>
        </p:nvSpPr>
        <p:spPr>
          <a:xfrm>
            <a:off x="5334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9" name="도형 19"/>
          <p:cNvSpPr/>
          <p:nvPr/>
        </p:nvSpPr>
        <p:spPr>
          <a:xfrm>
            <a:off x="5334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도형 20"/>
          <p:cNvSpPr/>
          <p:nvPr/>
        </p:nvSpPr>
        <p:spPr>
          <a:xfrm>
            <a:off x="533400" y="3667125"/>
            <a:ext cx="5448300" cy="142875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텍스트 21"/>
          <p:cNvSpPr txBox="1"/>
          <p:nvPr/>
        </p:nvSpPr>
        <p:spPr>
          <a:xfrm>
            <a:off x="6667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① 초보 투자 앱</a:t>
            </a:r>
          </a:p>
        </p:txBody>
      </p:sp>
      <p:sp>
        <p:nvSpPr>
          <p:cNvPr id="22" name="도형 22"/>
          <p:cNvSpPr/>
          <p:nvPr/>
        </p:nvSpPr>
        <p:spPr>
          <a:xfrm>
            <a:off x="6210300" y="3524250"/>
            <a:ext cx="5448300" cy="2171700"/>
          </a:xfrm>
          <a:prstGeom prst="roundRect">
            <a:avLst>
              <a:gd name="adj" fmla="val 2632"/>
            </a:avLst>
          </a:prstGeom>
          <a:solidFill>
            <a:srgbClr val="E7EFFE"/>
          </a:solidFill>
          <a:ln w="15240">
            <a:solidFill>
              <a:srgbClr val="2563E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10300" y="3524250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도형 24"/>
          <p:cNvSpPr/>
          <p:nvPr/>
        </p:nvSpPr>
        <p:spPr>
          <a:xfrm>
            <a:off x="6210300" y="3667125"/>
            <a:ext cx="5448300" cy="1428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5" name="텍스트 25"/>
          <p:cNvSpPr txBox="1"/>
          <p:nvPr/>
        </p:nvSpPr>
        <p:spPr>
          <a:xfrm>
            <a:off x="6343650" y="3524250"/>
            <a:ext cx="51816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</a:rPr>
              <a:t>가상 사례 ② 5분 요리 키트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858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어려운 용어 대신 쉬운 말과 그림.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62700" y="3905250"/>
            <a:ext cx="51435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solidFill>
                  <a:srgbClr val="1F2937"/>
                </a:solidFill>
                <a:latin typeface="맑은 고딕"/>
                <a:ea typeface="맑은 고딕"/>
              </a:rPr>
              <a:t>재료 손질까지 끝낸 상태로 배송.</a:t>
            </a:r>
          </a:p>
        </p:txBody>
      </p:sp>
      <p:sp>
        <p:nvSpPr>
          <p:cNvPr id="28" name="도형 28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BBF24"/>
                </a:solidFill>
                <a:latin typeface="맑은 고딕"/>
                <a:ea typeface="맑은 고딕"/>
              </a:rPr>
              <a:t>생각해 보기</a:t>
            </a: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  ① 고객이 어려워하는 부분은?   ② 어떻게 설명하면 가장 쉬울까?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카드를 고르는 기준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60장 중 무엇부터?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3009900" y="1352550"/>
            <a:ext cx="95250" cy="78105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66750" y="13525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1순위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3295650" y="14192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고객이 가장 불편해하는 부분에 해당하는 카드</a:t>
            </a:r>
          </a:p>
        </p:txBody>
      </p:sp>
      <p:sp>
        <p:nvSpPr>
          <p:cNvPr id="10" name="도형 10"/>
          <p:cNvSpPr/>
          <p:nvPr/>
        </p:nvSpPr>
        <p:spPr>
          <a:xfrm>
            <a:off x="533400" y="22288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533400" y="22288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009900" y="2228850"/>
            <a:ext cx="95250" cy="7810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텍스트 13"/>
          <p:cNvSpPr txBox="1"/>
          <p:nvPr/>
        </p:nvSpPr>
        <p:spPr>
          <a:xfrm>
            <a:off x="666750" y="22288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2순위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3295650" y="22955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우리가 실제로 할 수 있는 카드(자원·역량)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31051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31051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도형 17"/>
          <p:cNvSpPr/>
          <p:nvPr/>
        </p:nvSpPr>
        <p:spPr>
          <a:xfrm>
            <a:off x="3009900" y="3105150"/>
            <a:ext cx="95250" cy="781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66750" y="31051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3순위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295650" y="31718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경쟁사가 쉽게 따라 하기 어려운 카드</a:t>
            </a:r>
          </a:p>
        </p:txBody>
      </p:sp>
      <p:sp>
        <p:nvSpPr>
          <p:cNvPr id="20" name="도형 20"/>
          <p:cNvSpPr/>
          <p:nvPr/>
        </p:nvSpPr>
        <p:spPr>
          <a:xfrm>
            <a:off x="533400" y="39814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533400" y="39814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3009900" y="3981450"/>
            <a:ext cx="95250" cy="781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텍스트 23"/>
          <p:cNvSpPr txBox="1"/>
          <p:nvPr/>
        </p:nvSpPr>
        <p:spPr>
          <a:xfrm>
            <a:off x="666750" y="39814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선택 수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3295650" y="40481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핵심 1개 + 보조 1~2개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8577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도형 26"/>
          <p:cNvSpPr/>
          <p:nvPr/>
        </p:nvSpPr>
        <p:spPr>
          <a:xfrm>
            <a:off x="533400" y="48577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3009900" y="4857750"/>
            <a:ext cx="95250" cy="781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66750" y="48577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29" name="텍스트 29"/>
          <p:cNvSpPr txBox="1"/>
          <p:nvPr/>
        </p:nvSpPr>
        <p:spPr>
          <a:xfrm>
            <a:off x="3295650" y="49244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 5명에게 ‘왜 우리를 고르나요?’ 질문</a:t>
            </a:r>
          </a:p>
        </p:txBody>
      </p:sp>
      <p:sp>
        <p:nvSpPr>
          <p:cNvPr id="30" name="도형 30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고객이 말해 주는 이유가 진짜 차별점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자주 하는 질문 ① 찾기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학생들이 궁금해하는 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383627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364577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학생들이 자주 묻는 질문</a:t>
            </a:r>
          </a:p>
        </p:txBody>
      </p:sp>
      <p:sp>
        <p:nvSpPr>
          <p:cNvPr id="7" name="도형 7"/>
          <p:cNvSpPr/>
          <p:nvPr/>
        </p:nvSpPr>
        <p:spPr>
          <a:xfrm>
            <a:off x="4369676" y="1352550"/>
            <a:ext cx="728892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4464926" y="1352550"/>
            <a:ext cx="709842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답변</a:t>
            </a:r>
          </a:p>
        </p:txBody>
      </p:sp>
      <p:sp>
        <p:nvSpPr>
          <p:cNvPr id="9" name="도형 9"/>
          <p:cNvSpPr/>
          <p:nvPr/>
        </p:nvSpPr>
        <p:spPr>
          <a:xfrm>
            <a:off x="533400" y="1733550"/>
            <a:ext cx="3836276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628650" y="1771650"/>
            <a:ext cx="3645776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아이템이 흔한데 차별화가 가능한가요?</a:t>
            </a:r>
          </a:p>
        </p:txBody>
      </p:sp>
      <p:sp>
        <p:nvSpPr>
          <p:cNvPr id="11" name="도형 11"/>
          <p:cNvSpPr/>
          <p:nvPr/>
        </p:nvSpPr>
        <p:spPr>
          <a:xfrm>
            <a:off x="4369676" y="1733550"/>
            <a:ext cx="7288924" cy="9362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4464926" y="1771650"/>
            <a:ext cx="7098424" cy="8600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가능함 / 대상·방식·경험·신뢰 중 하나를 바꾸면 달라질 수 있음</a:t>
            </a:r>
          </a:p>
        </p:txBody>
      </p:sp>
      <p:sp>
        <p:nvSpPr>
          <p:cNvPr id="13" name="도형 13"/>
          <p:cNvSpPr/>
          <p:nvPr/>
        </p:nvSpPr>
        <p:spPr>
          <a:xfrm>
            <a:off x="533400" y="2669794"/>
            <a:ext cx="383627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628650" y="2707894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가격을 낮추는 것도 차별화인가요?</a:t>
            </a:r>
          </a:p>
        </p:txBody>
      </p:sp>
      <p:sp>
        <p:nvSpPr>
          <p:cNvPr id="15" name="도형 15"/>
          <p:cNvSpPr/>
          <p:nvPr/>
        </p:nvSpPr>
        <p:spPr>
          <a:xfrm>
            <a:off x="4369676" y="2669794"/>
            <a:ext cx="728892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4464926" y="2707894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원가 구조가 받쳐 줄 때만 지속됨 / 가격 경쟁은 따라 하기 쉬움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3318891"/>
            <a:ext cx="383627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3356991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차별점이 여러 개면 더 좋은가요?</a:t>
            </a:r>
          </a:p>
        </p:txBody>
      </p:sp>
      <p:sp>
        <p:nvSpPr>
          <p:cNvPr id="19" name="도형 19"/>
          <p:cNvSpPr/>
          <p:nvPr/>
        </p:nvSpPr>
        <p:spPr>
          <a:xfrm>
            <a:off x="4369676" y="3318891"/>
            <a:ext cx="728892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4464926" y="3356991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메시지가 흩어짐 / 대표 1개를 중심으로 정하기</a:t>
            </a:r>
          </a:p>
        </p:txBody>
      </p:sp>
      <p:sp>
        <p:nvSpPr>
          <p:cNvPr id="21" name="도형 21"/>
          <p:cNvSpPr/>
          <p:nvPr/>
        </p:nvSpPr>
        <p:spPr>
          <a:xfrm>
            <a:off x="533400" y="3967988"/>
            <a:ext cx="383627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28650" y="4006088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경쟁사가 따라 하면요?</a:t>
            </a:r>
          </a:p>
        </p:txBody>
      </p:sp>
      <p:sp>
        <p:nvSpPr>
          <p:cNvPr id="23" name="도형 23"/>
          <p:cNvSpPr/>
          <p:nvPr/>
        </p:nvSpPr>
        <p:spPr>
          <a:xfrm>
            <a:off x="4369676" y="3967988"/>
            <a:ext cx="728892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4464926" y="4006088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데이터·관계·브랜드 같은 쌓이는 요소를 만듦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617085"/>
            <a:ext cx="383627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628650" y="4655185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고객이 차이를 모르면요?</a:t>
            </a:r>
          </a:p>
        </p:txBody>
      </p:sp>
      <p:sp>
        <p:nvSpPr>
          <p:cNvPr id="27" name="도형 27"/>
          <p:cNvSpPr/>
          <p:nvPr/>
        </p:nvSpPr>
        <p:spPr>
          <a:xfrm>
            <a:off x="4369676" y="4617085"/>
            <a:ext cx="728892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4464926" y="4655185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메시지와 증거(후기·숫자)로 보여 줘야 함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차별점은 말이 아니라 ‘증거’로 전달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자주 하는 질문 ② 적용과 검증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학생들이 궁금해하는 점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3836276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3645776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학생들이 자주 묻는 질문</a:t>
            </a:r>
          </a:p>
        </p:txBody>
      </p:sp>
      <p:sp>
        <p:nvSpPr>
          <p:cNvPr id="7" name="도형 7"/>
          <p:cNvSpPr/>
          <p:nvPr/>
        </p:nvSpPr>
        <p:spPr>
          <a:xfrm>
            <a:off x="4369676" y="1352550"/>
            <a:ext cx="728892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4464926" y="1352550"/>
            <a:ext cx="709842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답변</a:t>
            </a:r>
          </a:p>
        </p:txBody>
      </p:sp>
      <p:sp>
        <p:nvSpPr>
          <p:cNvPr id="9" name="도형 9"/>
          <p:cNvSpPr/>
          <p:nvPr/>
        </p:nvSpPr>
        <p:spPr>
          <a:xfrm>
            <a:off x="533400" y="1733550"/>
            <a:ext cx="383627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628650" y="1771650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차별화를 어디에 쓰나요?</a:t>
            </a:r>
          </a:p>
        </p:txBody>
      </p:sp>
      <p:sp>
        <p:nvSpPr>
          <p:cNvPr id="11" name="도형 11"/>
          <p:cNvSpPr/>
          <p:nvPr/>
        </p:nvSpPr>
        <p:spPr>
          <a:xfrm>
            <a:off x="4369676" y="1733550"/>
            <a:ext cx="728892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4464926" y="1771650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사업계획서, 홍보 문구, 제품 소개, 가격 정책에 모두 연결됨</a:t>
            </a:r>
          </a:p>
        </p:txBody>
      </p:sp>
      <p:sp>
        <p:nvSpPr>
          <p:cNvPr id="13" name="도형 13"/>
          <p:cNvSpPr/>
          <p:nvPr/>
        </p:nvSpPr>
        <p:spPr>
          <a:xfrm>
            <a:off x="533400" y="2382647"/>
            <a:ext cx="383627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628650" y="2420747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어떻게 검증하나요?</a:t>
            </a:r>
          </a:p>
        </p:txBody>
      </p:sp>
      <p:sp>
        <p:nvSpPr>
          <p:cNvPr id="15" name="도형 15"/>
          <p:cNvSpPr/>
          <p:nvPr/>
        </p:nvSpPr>
        <p:spPr>
          <a:xfrm>
            <a:off x="4369676" y="2382647"/>
            <a:ext cx="728892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4464926" y="2420747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경쟁 비교표와 고객 인터뷰, 작은 테스트로 반응을 확인함</a:t>
            </a:r>
          </a:p>
        </p:txBody>
      </p:sp>
      <p:sp>
        <p:nvSpPr>
          <p:cNvPr id="17" name="도형 17"/>
          <p:cNvSpPr/>
          <p:nvPr/>
        </p:nvSpPr>
        <p:spPr>
          <a:xfrm>
            <a:off x="533400" y="3031744"/>
            <a:ext cx="383627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28650" y="3069844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차별화에 비용이 많이 드나요?</a:t>
            </a:r>
          </a:p>
        </p:txBody>
      </p:sp>
      <p:sp>
        <p:nvSpPr>
          <p:cNvPr id="19" name="도형 19"/>
          <p:cNvSpPr/>
          <p:nvPr/>
        </p:nvSpPr>
        <p:spPr>
          <a:xfrm>
            <a:off x="4369676" y="3031744"/>
            <a:ext cx="728892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4464926" y="3069844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서비스 방식·응대·콘텐츠처럼 비용이 적은 차별화도 많음</a:t>
            </a:r>
          </a:p>
        </p:txBody>
      </p:sp>
      <p:sp>
        <p:nvSpPr>
          <p:cNvPr id="21" name="도형 21"/>
          <p:cNvSpPr/>
          <p:nvPr/>
        </p:nvSpPr>
        <p:spPr>
          <a:xfrm>
            <a:off x="533400" y="3680841"/>
            <a:ext cx="3836276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628650" y="3718941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시간이 지나 차별화가 약해지면요?</a:t>
            </a:r>
          </a:p>
        </p:txBody>
      </p:sp>
      <p:sp>
        <p:nvSpPr>
          <p:cNvPr id="23" name="도형 23"/>
          <p:cNvSpPr/>
          <p:nvPr/>
        </p:nvSpPr>
        <p:spPr>
          <a:xfrm>
            <a:off x="4369676" y="3680841"/>
            <a:ext cx="728892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4464926" y="3718941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정기적으로 경쟁 비교를 갱신하고 새 가치를 더하기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329938"/>
            <a:ext cx="3836276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628650" y="4368038"/>
            <a:ext cx="3645776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카드를 고르다 보니 다 중요해 보임</a:t>
            </a:r>
          </a:p>
        </p:txBody>
      </p:sp>
      <p:sp>
        <p:nvSpPr>
          <p:cNvPr id="27" name="도형 27"/>
          <p:cNvSpPr/>
          <p:nvPr/>
        </p:nvSpPr>
        <p:spPr>
          <a:xfrm>
            <a:off x="4369676" y="4329938"/>
            <a:ext cx="728892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4464926" y="4368038"/>
            <a:ext cx="709842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고객의 문제 1개 기준으로 우선순위를 다시 정하기</a:t>
            </a:r>
          </a:p>
        </p:txBody>
      </p:sp>
      <p:sp>
        <p:nvSpPr>
          <p:cNvPr id="29" name="도형 29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EEF7"/>
          </a:solidFill>
          <a:ln w="15240">
            <a:solidFill>
              <a:srgbClr val="16294A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6294A"/>
                </a:solidFill>
                <a:latin typeface="맑은 고딕"/>
                <a:ea typeface="맑은 고딕"/>
              </a:rPr>
              <a:t>차별화는 한 번이 아니라 계속 점검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차별화에 대한 흔한 오해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시작 전에 바로잡기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5448300" cy="4286250"/>
          </a:xfrm>
          <a:prstGeom prst="roundRect">
            <a:avLst>
              <a:gd name="adj" fmla="val 1333"/>
            </a:avLst>
          </a:prstGeom>
          <a:solidFill>
            <a:srgbClr val="FDECEA"/>
          </a:solidFill>
          <a:ln w="15240">
            <a:solidFill>
              <a:srgbClr val="C0392B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5448300" cy="361950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43050"/>
            <a:ext cx="5448300" cy="1714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85800" y="1352550"/>
            <a:ext cx="51435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  <a:ea typeface="맑은 고딕"/>
              </a:rPr>
              <a:t>흔한 오해</a:t>
            </a:r>
          </a:p>
        </p:txBody>
      </p:sp>
      <p:sp>
        <p:nvSpPr>
          <p:cNvPr id="9" name="도형 9"/>
          <p:cNvSpPr/>
          <p:nvPr/>
        </p:nvSpPr>
        <p:spPr>
          <a:xfrm>
            <a:off x="6210300" y="1352550"/>
            <a:ext cx="5448300" cy="4286250"/>
          </a:xfrm>
          <a:prstGeom prst="roundRect">
            <a:avLst>
              <a:gd name="adj" fmla="val 1333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도형 10"/>
          <p:cNvSpPr/>
          <p:nvPr/>
        </p:nvSpPr>
        <p:spPr>
          <a:xfrm>
            <a:off x="6210300" y="1352550"/>
            <a:ext cx="5448300" cy="361950"/>
          </a:xfrm>
          <a:prstGeom prst="roundRect">
            <a:avLst>
              <a:gd name="adj" fmla="val 15789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6210300" y="1543050"/>
            <a:ext cx="5448300" cy="1714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6362700" y="1352550"/>
            <a:ext cx="51435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  <a:ea typeface="맑은 고딕"/>
              </a:rPr>
              <a:t>바른 이해</a:t>
            </a:r>
          </a:p>
        </p:txBody>
      </p:sp>
      <p:sp>
        <p:nvSpPr>
          <p:cNvPr id="13" name="텍스트 13"/>
          <p:cNvSpPr txBox="1"/>
          <p:nvPr/>
        </p:nvSpPr>
        <p:spPr>
          <a:xfrm>
            <a:off x="723900" y="1847850"/>
            <a:ext cx="5067300" cy="3695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새롭고 특이하면 차별화임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기능이 많으면 차별화임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싸게 팔면 차별화임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한 번 정하면 영원함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내가 보기에 다르면 충분함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6400800" y="1847850"/>
            <a:ext cx="5067300" cy="3695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고객에게 의미 있는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 차이가 필요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핵심 기능 1개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를 강하게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원가와 가치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가 받쳐 줘야 함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경쟁 변화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에 따라 갱신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1" dirty="0">
                <a:solidFill>
                  <a:srgbClr val="C2410C"/>
                </a:solidFill>
                <a:latin typeface="맑은 고딕"/>
                <a:ea typeface="맑은 고딕"/>
              </a:rPr>
              <a:t>고객의 말</a:t>
            </a:r>
            <a:r>
              <a:rPr lang="ko-KR" altLang="en-US" sz="2100" b="0" dirty="0">
                <a:solidFill>
                  <a:srgbClr val="1F2937"/>
                </a:solidFill>
                <a:latin typeface="맑은 고딕"/>
                <a:ea typeface="맑은 고딕"/>
              </a:rPr>
              <a:t>로 확인해야 함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텍스트 17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차별화는 ‘고객의 선택 이유’로 증명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4"/>
          <p:cNvSpPr txBox="1"/>
          <p:nvPr/>
        </p:nvSpPr>
        <p:spPr>
          <a:xfrm>
            <a:off x="762000" y="1714500"/>
            <a:ext cx="10668000" cy="209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맑은 고딕"/>
                <a:ea typeface="맑은 고딕"/>
              </a:rPr>
              <a:t>차별화는 ‘남과 다름’이 아니라 ‘고객이 선택할 이유’를 한 가지로 선명하게 만드는 일임</a:t>
            </a:r>
          </a:p>
        </p:txBody>
      </p:sp>
      <p:sp>
        <p:nvSpPr>
          <p:cNvPr id="5" name="텍스트 5"/>
          <p:cNvSpPr txBox="1"/>
          <p:nvPr/>
        </p:nvSpPr>
        <p:spPr>
          <a:xfrm>
            <a:off x="762000" y="4095750"/>
            <a:ext cx="10668000" cy="209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DCE4F2"/>
                </a:solidFill>
                <a:latin typeface="맑은 고딕"/>
                <a:ea typeface="맑은 고딕"/>
              </a:rPr>
              <a:t>고객이 중요하게 보는 기준에서 앞서기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798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DCE4F2"/>
                </a:solidFill>
                <a:latin typeface="맑은 고딕"/>
                <a:ea typeface="맑은 고딕"/>
              </a:rPr>
              <a:t>증거로 보여 주기</a:t>
            </a:r>
          </a:p>
          <a:p>
            <a:pPr marL="253365" indent="-2533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lang="ko-KR" altLang="en-US" sz="2100" b="0" dirty="0">
                <a:solidFill>
                  <a:srgbClr val="DCE4F2"/>
                </a:solidFill>
                <a:latin typeface="맑은 고딕"/>
                <a:ea typeface="맑은 고딕"/>
              </a:rPr>
              <a:t>한 문장으로 말할 수 있게 줄이기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핵심 정리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사전 지식 5가지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3525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3009900" y="1352550"/>
            <a:ext cx="95250" cy="78105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66750" y="13525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방향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3295650" y="14192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가치·방식·경험·관계·제품·신뢰의 6가지</a:t>
            </a:r>
          </a:p>
        </p:txBody>
      </p:sp>
      <p:sp>
        <p:nvSpPr>
          <p:cNvPr id="10" name="도형 10"/>
          <p:cNvSpPr/>
          <p:nvPr/>
        </p:nvSpPr>
        <p:spPr>
          <a:xfrm>
            <a:off x="533400" y="22288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1" name="도형 11"/>
          <p:cNvSpPr/>
          <p:nvPr/>
        </p:nvSpPr>
        <p:spPr>
          <a:xfrm>
            <a:off x="533400" y="22288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도형 12"/>
          <p:cNvSpPr/>
          <p:nvPr/>
        </p:nvSpPr>
        <p:spPr>
          <a:xfrm>
            <a:off x="3009900" y="2228850"/>
            <a:ext cx="95250" cy="781050"/>
          </a:xfrm>
          <a:prstGeom prst="rect">
            <a:avLst/>
          </a:prstGeom>
          <a:solidFill>
            <a:srgbClr val="1E7B5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3" name="텍스트 13"/>
          <p:cNvSpPr txBox="1"/>
          <p:nvPr/>
        </p:nvSpPr>
        <p:spPr>
          <a:xfrm>
            <a:off x="666750" y="22288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기준</a:t>
            </a:r>
          </a:p>
        </p:txBody>
      </p:sp>
      <p:sp>
        <p:nvSpPr>
          <p:cNvPr id="14" name="텍스트 14"/>
          <p:cNvSpPr txBox="1"/>
          <p:nvPr/>
        </p:nvSpPr>
        <p:spPr>
          <a:xfrm>
            <a:off x="3295650" y="22955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고객이 중요하게 보는 항목에서 다를 것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31051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도형 16"/>
          <p:cNvSpPr/>
          <p:nvPr/>
        </p:nvSpPr>
        <p:spPr>
          <a:xfrm>
            <a:off x="533400" y="31051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7" name="도형 17"/>
          <p:cNvSpPr/>
          <p:nvPr/>
        </p:nvSpPr>
        <p:spPr>
          <a:xfrm>
            <a:off x="3009900" y="3105150"/>
            <a:ext cx="95250" cy="781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666750" y="31051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비교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295650" y="31718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가치 곡선으로 점수화</a:t>
            </a:r>
          </a:p>
        </p:txBody>
      </p:sp>
      <p:sp>
        <p:nvSpPr>
          <p:cNvPr id="20" name="도형 20"/>
          <p:cNvSpPr/>
          <p:nvPr/>
        </p:nvSpPr>
        <p:spPr>
          <a:xfrm>
            <a:off x="533400" y="39814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1" name="도형 21"/>
          <p:cNvSpPr/>
          <p:nvPr/>
        </p:nvSpPr>
        <p:spPr>
          <a:xfrm>
            <a:off x="533400" y="39814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3009900" y="3981450"/>
            <a:ext cx="95250" cy="781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텍스트 23"/>
          <p:cNvSpPr txBox="1"/>
          <p:nvPr/>
        </p:nvSpPr>
        <p:spPr>
          <a:xfrm>
            <a:off x="666750" y="39814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집중</a:t>
            </a:r>
          </a:p>
        </p:txBody>
      </p:sp>
      <p:sp>
        <p:nvSpPr>
          <p:cNvPr id="24" name="텍스트 24"/>
          <p:cNvSpPr txBox="1"/>
          <p:nvPr/>
        </p:nvSpPr>
        <p:spPr>
          <a:xfrm>
            <a:off x="3295650" y="40481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대표 한 가지를 선명하게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4857750"/>
            <a:ext cx="11125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도형 26"/>
          <p:cNvSpPr/>
          <p:nvPr/>
        </p:nvSpPr>
        <p:spPr>
          <a:xfrm>
            <a:off x="533400" y="4857750"/>
            <a:ext cx="2571750" cy="781050"/>
          </a:xfrm>
          <a:prstGeom prst="roundRect">
            <a:avLst>
              <a:gd name="adj" fmla="val 7317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7" name="도형 27"/>
          <p:cNvSpPr/>
          <p:nvPr/>
        </p:nvSpPr>
        <p:spPr>
          <a:xfrm>
            <a:off x="3009900" y="4857750"/>
            <a:ext cx="95250" cy="781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666750" y="4857750"/>
            <a:ext cx="230505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29" name="텍스트 29"/>
          <p:cNvSpPr txBox="1"/>
          <p:nvPr/>
        </p:nvSpPr>
        <p:spPr>
          <a:xfrm>
            <a:off x="3295650" y="4924425"/>
            <a:ext cx="813435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0" b="0" dirty="0">
                <a:solidFill>
                  <a:srgbClr val="1F2937"/>
                </a:solidFill>
                <a:latin typeface="맑은 고딕"/>
                <a:ea typeface="맑은 고딕"/>
              </a:rPr>
              <a:t>고객 반응·선택·후기로 확인</a:t>
            </a:r>
          </a:p>
        </p:txBody>
      </p:sp>
      <p:sp>
        <p:nvSpPr>
          <p:cNvPr id="30" name="도형 30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이제 경쟁 5곳과 우리를 같은 5개 항목으로 점수 매겨 보기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경쟁사 차별요소 비교표 작성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도우미에서 필수 작성 · 경쟁사 최대 5곳 · 비교요소 최대 6개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352550"/>
            <a:ext cx="261769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 6"/>
          <p:cNvSpPr txBox="1"/>
          <p:nvPr/>
        </p:nvSpPr>
        <p:spPr>
          <a:xfrm>
            <a:off x="628650" y="1352550"/>
            <a:ext cx="242719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7" name="도형 7"/>
          <p:cNvSpPr/>
          <p:nvPr/>
        </p:nvSpPr>
        <p:spPr>
          <a:xfrm>
            <a:off x="3151094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3246344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당사</a:t>
            </a:r>
          </a:p>
        </p:txBody>
      </p:sp>
      <p:sp>
        <p:nvSpPr>
          <p:cNvPr id="9" name="도형 9"/>
          <p:cNvSpPr/>
          <p:nvPr/>
        </p:nvSpPr>
        <p:spPr>
          <a:xfrm>
            <a:off x="5114365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텍스트 10"/>
          <p:cNvSpPr txBox="1"/>
          <p:nvPr/>
        </p:nvSpPr>
        <p:spPr>
          <a:xfrm>
            <a:off x="5209615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경쟁사1</a:t>
            </a:r>
          </a:p>
        </p:txBody>
      </p:sp>
      <p:sp>
        <p:nvSpPr>
          <p:cNvPr id="11" name="도형 11"/>
          <p:cNvSpPr/>
          <p:nvPr/>
        </p:nvSpPr>
        <p:spPr>
          <a:xfrm>
            <a:off x="7077635" y="1352550"/>
            <a:ext cx="1963271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텍스트 12"/>
          <p:cNvSpPr txBox="1"/>
          <p:nvPr/>
        </p:nvSpPr>
        <p:spPr>
          <a:xfrm>
            <a:off x="7172885" y="1352550"/>
            <a:ext cx="1772771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경쟁사2</a:t>
            </a:r>
          </a:p>
        </p:txBody>
      </p:sp>
      <p:sp>
        <p:nvSpPr>
          <p:cNvPr id="13" name="도형 13"/>
          <p:cNvSpPr/>
          <p:nvPr/>
        </p:nvSpPr>
        <p:spPr>
          <a:xfrm>
            <a:off x="9040906" y="1352550"/>
            <a:ext cx="2617694" cy="3810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텍스트 14"/>
          <p:cNvSpPr txBox="1"/>
          <p:nvPr/>
        </p:nvSpPr>
        <p:spPr>
          <a:xfrm>
            <a:off x="9136156" y="1352550"/>
            <a:ext cx="242719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★ 앞서는 점</a:t>
            </a:r>
          </a:p>
        </p:txBody>
      </p:sp>
      <p:sp>
        <p:nvSpPr>
          <p:cNvPr id="15" name="도형 15"/>
          <p:cNvSpPr/>
          <p:nvPr/>
        </p:nvSpPr>
        <p:spPr>
          <a:xfrm>
            <a:off x="533400" y="1733550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628650" y="1771650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가격</a:t>
            </a:r>
          </a:p>
        </p:txBody>
      </p:sp>
      <p:sp>
        <p:nvSpPr>
          <p:cNvPr id="17" name="도형 17"/>
          <p:cNvSpPr/>
          <p:nvPr/>
        </p:nvSpPr>
        <p:spPr>
          <a:xfrm>
            <a:off x="3151094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8" name="텍스트 18"/>
          <p:cNvSpPr txBox="1"/>
          <p:nvPr/>
        </p:nvSpPr>
        <p:spPr>
          <a:xfrm>
            <a:off x="3246344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월 9,900원</a:t>
            </a:r>
          </a:p>
        </p:txBody>
      </p:sp>
      <p:sp>
        <p:nvSpPr>
          <p:cNvPr id="19" name="도형 19"/>
          <p:cNvSpPr/>
          <p:nvPr/>
        </p:nvSpPr>
        <p:spPr>
          <a:xfrm>
            <a:off x="5114365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0" name="텍스트 20"/>
          <p:cNvSpPr txBox="1"/>
          <p:nvPr/>
        </p:nvSpPr>
        <p:spPr>
          <a:xfrm>
            <a:off x="5209615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월 14,900원</a:t>
            </a:r>
          </a:p>
        </p:txBody>
      </p:sp>
      <p:sp>
        <p:nvSpPr>
          <p:cNvPr id="21" name="도형 21"/>
          <p:cNvSpPr/>
          <p:nvPr/>
        </p:nvSpPr>
        <p:spPr>
          <a:xfrm>
            <a:off x="7077635" y="1733550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텍스트 22"/>
          <p:cNvSpPr txBox="1"/>
          <p:nvPr/>
        </p:nvSpPr>
        <p:spPr>
          <a:xfrm>
            <a:off x="7172885" y="1771650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월 12,000원</a:t>
            </a:r>
          </a:p>
        </p:txBody>
      </p:sp>
      <p:sp>
        <p:nvSpPr>
          <p:cNvPr id="23" name="도형 23"/>
          <p:cNvSpPr/>
          <p:nvPr/>
        </p:nvSpPr>
        <p:spPr>
          <a:xfrm>
            <a:off x="9040906" y="1733550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9136156" y="1771650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★ 앞섬</a:t>
            </a:r>
          </a:p>
        </p:txBody>
      </p:sp>
      <p:sp>
        <p:nvSpPr>
          <p:cNvPr id="25" name="도형 25"/>
          <p:cNvSpPr/>
          <p:nvPr/>
        </p:nvSpPr>
        <p:spPr>
          <a:xfrm>
            <a:off x="533400" y="2382647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6" name="텍스트 26"/>
          <p:cNvSpPr txBox="1"/>
          <p:nvPr/>
        </p:nvSpPr>
        <p:spPr>
          <a:xfrm>
            <a:off x="628650" y="2420747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배송 시간</a:t>
            </a:r>
          </a:p>
        </p:txBody>
      </p:sp>
      <p:sp>
        <p:nvSpPr>
          <p:cNvPr id="27" name="도형 27"/>
          <p:cNvSpPr/>
          <p:nvPr/>
        </p:nvSpPr>
        <p:spPr>
          <a:xfrm>
            <a:off x="3151094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8" name="텍스트 28"/>
          <p:cNvSpPr txBox="1"/>
          <p:nvPr/>
        </p:nvSpPr>
        <p:spPr>
          <a:xfrm>
            <a:off x="3246344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당일</a:t>
            </a:r>
          </a:p>
        </p:txBody>
      </p:sp>
      <p:sp>
        <p:nvSpPr>
          <p:cNvPr id="29" name="도형 29"/>
          <p:cNvSpPr/>
          <p:nvPr/>
        </p:nvSpPr>
        <p:spPr>
          <a:xfrm>
            <a:off x="5114365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텍스트 30"/>
          <p:cNvSpPr txBox="1"/>
          <p:nvPr/>
        </p:nvSpPr>
        <p:spPr>
          <a:xfrm>
            <a:off x="5209615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익일</a:t>
            </a:r>
          </a:p>
        </p:txBody>
      </p:sp>
      <p:sp>
        <p:nvSpPr>
          <p:cNvPr id="31" name="도형 31"/>
          <p:cNvSpPr/>
          <p:nvPr/>
        </p:nvSpPr>
        <p:spPr>
          <a:xfrm>
            <a:off x="7077635" y="2382647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7172885" y="2420747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익일</a:t>
            </a:r>
          </a:p>
        </p:txBody>
      </p:sp>
      <p:sp>
        <p:nvSpPr>
          <p:cNvPr id="33" name="도형 33"/>
          <p:cNvSpPr/>
          <p:nvPr/>
        </p:nvSpPr>
        <p:spPr>
          <a:xfrm>
            <a:off x="9040906" y="2382647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4" name="텍스트 34"/>
          <p:cNvSpPr txBox="1"/>
          <p:nvPr/>
        </p:nvSpPr>
        <p:spPr>
          <a:xfrm>
            <a:off x="9136156" y="2420747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★ 앞섬</a:t>
            </a:r>
          </a:p>
        </p:txBody>
      </p:sp>
      <p:sp>
        <p:nvSpPr>
          <p:cNvPr id="35" name="도형 35"/>
          <p:cNvSpPr/>
          <p:nvPr/>
        </p:nvSpPr>
        <p:spPr>
          <a:xfrm>
            <a:off x="533400" y="3031744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6" name="텍스트 36"/>
          <p:cNvSpPr txBox="1"/>
          <p:nvPr/>
        </p:nvSpPr>
        <p:spPr>
          <a:xfrm>
            <a:off x="628650" y="3069844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맞춤 선택</a:t>
            </a:r>
          </a:p>
        </p:txBody>
      </p:sp>
      <p:sp>
        <p:nvSpPr>
          <p:cNvPr id="37" name="도형 37"/>
          <p:cNvSpPr/>
          <p:nvPr/>
        </p:nvSpPr>
        <p:spPr>
          <a:xfrm>
            <a:off x="3151094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3246344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가능</a:t>
            </a:r>
          </a:p>
        </p:txBody>
      </p:sp>
      <p:sp>
        <p:nvSpPr>
          <p:cNvPr id="39" name="도형 39"/>
          <p:cNvSpPr/>
          <p:nvPr/>
        </p:nvSpPr>
        <p:spPr>
          <a:xfrm>
            <a:off x="5114365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0" name="텍스트 40"/>
          <p:cNvSpPr txBox="1"/>
          <p:nvPr/>
        </p:nvSpPr>
        <p:spPr>
          <a:xfrm>
            <a:off x="5209615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불가</a:t>
            </a:r>
          </a:p>
        </p:txBody>
      </p:sp>
      <p:sp>
        <p:nvSpPr>
          <p:cNvPr id="41" name="도형 41"/>
          <p:cNvSpPr/>
          <p:nvPr/>
        </p:nvSpPr>
        <p:spPr>
          <a:xfrm>
            <a:off x="7077635" y="3031744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2" name="텍스트 42"/>
          <p:cNvSpPr txBox="1"/>
          <p:nvPr/>
        </p:nvSpPr>
        <p:spPr>
          <a:xfrm>
            <a:off x="7172885" y="3069844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일부 가능</a:t>
            </a:r>
          </a:p>
        </p:txBody>
      </p:sp>
      <p:sp>
        <p:nvSpPr>
          <p:cNvPr id="43" name="도형 43"/>
          <p:cNvSpPr/>
          <p:nvPr/>
        </p:nvSpPr>
        <p:spPr>
          <a:xfrm>
            <a:off x="9040906" y="3031744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4" name="텍스트 44"/>
          <p:cNvSpPr txBox="1"/>
          <p:nvPr/>
        </p:nvSpPr>
        <p:spPr>
          <a:xfrm>
            <a:off x="9136156" y="3069844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★ 앞섬</a:t>
            </a:r>
          </a:p>
        </p:txBody>
      </p:sp>
      <p:sp>
        <p:nvSpPr>
          <p:cNvPr id="45" name="도형 45"/>
          <p:cNvSpPr/>
          <p:nvPr/>
        </p:nvSpPr>
        <p:spPr>
          <a:xfrm>
            <a:off x="533400" y="3680841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6" name="텍스트 46"/>
          <p:cNvSpPr txBox="1"/>
          <p:nvPr/>
        </p:nvSpPr>
        <p:spPr>
          <a:xfrm>
            <a:off x="628650" y="3718941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브랜드 인지</a:t>
            </a:r>
          </a:p>
        </p:txBody>
      </p:sp>
      <p:sp>
        <p:nvSpPr>
          <p:cNvPr id="47" name="도형 47"/>
          <p:cNvSpPr/>
          <p:nvPr/>
        </p:nvSpPr>
        <p:spPr>
          <a:xfrm>
            <a:off x="3151094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8" name="텍스트 48"/>
          <p:cNvSpPr txBox="1"/>
          <p:nvPr/>
        </p:nvSpPr>
        <p:spPr>
          <a:xfrm>
            <a:off x="3246344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낮음</a:t>
            </a:r>
          </a:p>
        </p:txBody>
      </p:sp>
      <p:sp>
        <p:nvSpPr>
          <p:cNvPr id="49" name="도형 49"/>
          <p:cNvSpPr/>
          <p:nvPr/>
        </p:nvSpPr>
        <p:spPr>
          <a:xfrm>
            <a:off x="5114365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0" name="텍스트 50"/>
          <p:cNvSpPr txBox="1"/>
          <p:nvPr/>
        </p:nvSpPr>
        <p:spPr>
          <a:xfrm>
            <a:off x="5209615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높음</a:t>
            </a:r>
          </a:p>
        </p:txBody>
      </p:sp>
      <p:sp>
        <p:nvSpPr>
          <p:cNvPr id="51" name="도형 51"/>
          <p:cNvSpPr/>
          <p:nvPr/>
        </p:nvSpPr>
        <p:spPr>
          <a:xfrm>
            <a:off x="7077635" y="3680841"/>
            <a:ext cx="1963271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2" name="텍스트 52"/>
          <p:cNvSpPr txBox="1"/>
          <p:nvPr/>
        </p:nvSpPr>
        <p:spPr>
          <a:xfrm>
            <a:off x="7172885" y="3718941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높음</a:t>
            </a:r>
          </a:p>
        </p:txBody>
      </p:sp>
      <p:sp>
        <p:nvSpPr>
          <p:cNvPr id="53" name="도형 53"/>
          <p:cNvSpPr/>
          <p:nvPr/>
        </p:nvSpPr>
        <p:spPr>
          <a:xfrm>
            <a:off x="9040906" y="3680841"/>
            <a:ext cx="2617694" cy="649097"/>
          </a:xfrm>
          <a:prstGeom prst="rect">
            <a:avLst/>
          </a:prstGeom>
          <a:solidFill>
            <a:srgbClr val="F3F6FB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4" name="텍스트 54"/>
          <p:cNvSpPr txBox="1"/>
          <p:nvPr/>
        </p:nvSpPr>
        <p:spPr>
          <a:xfrm>
            <a:off x="9136156" y="3718941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보완 필요</a:t>
            </a:r>
          </a:p>
        </p:txBody>
      </p:sp>
      <p:sp>
        <p:nvSpPr>
          <p:cNvPr id="55" name="도형 55"/>
          <p:cNvSpPr/>
          <p:nvPr/>
        </p:nvSpPr>
        <p:spPr>
          <a:xfrm>
            <a:off x="533400" y="4329938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6" name="텍스트 56"/>
          <p:cNvSpPr txBox="1"/>
          <p:nvPr/>
        </p:nvSpPr>
        <p:spPr>
          <a:xfrm>
            <a:off x="628650" y="4368038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6294A"/>
                </a:solidFill>
                <a:latin typeface="맑은 고딕"/>
                <a:ea typeface="맑은 고딕"/>
              </a:rPr>
              <a:t>고객 지원</a:t>
            </a:r>
          </a:p>
        </p:txBody>
      </p:sp>
      <p:sp>
        <p:nvSpPr>
          <p:cNvPr id="57" name="도형 57"/>
          <p:cNvSpPr/>
          <p:nvPr/>
        </p:nvSpPr>
        <p:spPr>
          <a:xfrm>
            <a:off x="3151094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8" name="텍스트 58"/>
          <p:cNvSpPr txBox="1"/>
          <p:nvPr/>
        </p:nvSpPr>
        <p:spPr>
          <a:xfrm>
            <a:off x="3246344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챗봇</a:t>
            </a:r>
          </a:p>
        </p:txBody>
      </p:sp>
      <p:sp>
        <p:nvSpPr>
          <p:cNvPr id="59" name="도형 59"/>
          <p:cNvSpPr/>
          <p:nvPr/>
        </p:nvSpPr>
        <p:spPr>
          <a:xfrm>
            <a:off x="5114365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0" name="텍스트 60"/>
          <p:cNvSpPr txBox="1"/>
          <p:nvPr/>
        </p:nvSpPr>
        <p:spPr>
          <a:xfrm>
            <a:off x="5209615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전화</a:t>
            </a:r>
          </a:p>
        </p:txBody>
      </p:sp>
      <p:sp>
        <p:nvSpPr>
          <p:cNvPr id="61" name="도형 61"/>
          <p:cNvSpPr/>
          <p:nvPr/>
        </p:nvSpPr>
        <p:spPr>
          <a:xfrm>
            <a:off x="7077635" y="4329938"/>
            <a:ext cx="1963271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2" name="텍스트 62"/>
          <p:cNvSpPr txBox="1"/>
          <p:nvPr/>
        </p:nvSpPr>
        <p:spPr>
          <a:xfrm>
            <a:off x="7172885" y="4368038"/>
            <a:ext cx="1772771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전화</a:t>
            </a:r>
          </a:p>
        </p:txBody>
      </p:sp>
      <p:sp>
        <p:nvSpPr>
          <p:cNvPr id="63" name="도형 63"/>
          <p:cNvSpPr/>
          <p:nvPr/>
        </p:nvSpPr>
        <p:spPr>
          <a:xfrm>
            <a:off x="9040906" y="4329938"/>
            <a:ext cx="2617694" cy="649097"/>
          </a:xfrm>
          <a:prstGeom prst="rect">
            <a:avLst/>
          </a:prstGeom>
          <a:solidFill>
            <a:srgbClr val="FFFFFF"/>
          </a:solidFill>
          <a:ln w="1016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4" name="텍스트 64"/>
          <p:cNvSpPr txBox="1"/>
          <p:nvPr/>
        </p:nvSpPr>
        <p:spPr>
          <a:xfrm>
            <a:off x="9136156" y="4368038"/>
            <a:ext cx="2427194" cy="5728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0" dirty="0">
                <a:solidFill>
                  <a:srgbClr val="1F2937"/>
                </a:solidFill>
                <a:latin typeface="맑은 고딕"/>
                <a:ea typeface="맑은 고딕"/>
              </a:rPr>
              <a:t>보완 필요</a:t>
            </a:r>
          </a:p>
        </p:txBody>
      </p:sp>
      <p:sp>
        <p:nvSpPr>
          <p:cNvPr id="65" name="도형 65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5240">
            <a:solidFill>
              <a:srgbClr val="1E7B58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6" name="텍스트 66"/>
          <p:cNvSpPr txBox="1"/>
          <p:nvPr/>
        </p:nvSpPr>
        <p:spPr>
          <a:xfrm>
            <a:off x="7620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1E7B58"/>
                </a:solidFill>
                <a:latin typeface="맑은 고딕"/>
                <a:ea typeface="맑은 고딕"/>
              </a:rPr>
              <a:t>★ 표시한 요소는 설명 초안에 반영 · 경쟁사 칸은 홈페이지·후기 등 확인한 내용으로 작성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2"/>
          <p:cNvSpPr txBox="1"/>
          <p:nvPr/>
        </p:nvSpPr>
        <p:spPr>
          <a:xfrm>
            <a:off x="533400" y="342900"/>
            <a:ext cx="11125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6294A"/>
                </a:solidFill>
                <a:latin typeface="맑은 고딕"/>
                <a:ea typeface="맑은 고딕"/>
              </a:rPr>
              <a:t>AI 도움요청 사용 안내</a:t>
            </a:r>
          </a:p>
        </p:txBody>
      </p:sp>
      <p:sp>
        <p:nvSpPr>
          <p:cNvPr id="3" name="텍스트 3"/>
          <p:cNvSpPr txBox="1"/>
          <p:nvPr/>
        </p:nvSpPr>
        <p:spPr>
          <a:xfrm>
            <a:off x="533400" y="81915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6B7A90"/>
                </a:solidFill>
                <a:latin typeface="맑은 고딕"/>
                <a:ea typeface="맑은 고딕"/>
              </a:rPr>
              <a:t>필요할 때만 여는 선택 기능 · 이름·연락처 등 개인정보는 넣지 않기</a:t>
            </a:r>
          </a:p>
        </p:txBody>
      </p:sp>
      <p:sp>
        <p:nvSpPr>
          <p:cNvPr id="4" name="도형 4"/>
          <p:cNvSpPr/>
          <p:nvPr/>
        </p:nvSpPr>
        <p:spPr>
          <a:xfrm>
            <a:off x="533400" y="1143000"/>
            <a:ext cx="11125200" cy="19050"/>
          </a:xfrm>
          <a:prstGeom prst="rect">
            <a:avLst/>
          </a:prstGeom>
          <a:solidFill>
            <a:srgbClr val="D3DCE8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5" name="도형 5"/>
          <p:cNvSpPr/>
          <p:nvPr/>
        </p:nvSpPr>
        <p:spPr>
          <a:xfrm>
            <a:off x="533400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도형 6"/>
          <p:cNvSpPr/>
          <p:nvPr/>
        </p:nvSpPr>
        <p:spPr>
          <a:xfrm>
            <a:off x="533400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도형 7"/>
          <p:cNvSpPr/>
          <p:nvPr/>
        </p:nvSpPr>
        <p:spPr>
          <a:xfrm>
            <a:off x="533400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 8"/>
          <p:cNvSpPr txBox="1"/>
          <p:nvPr/>
        </p:nvSpPr>
        <p:spPr>
          <a:xfrm>
            <a:off x="609600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9" name="텍스트 9"/>
          <p:cNvSpPr txBox="1"/>
          <p:nvPr/>
        </p:nvSpPr>
        <p:spPr>
          <a:xfrm>
            <a:off x="666750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카드 열기</a:t>
            </a:r>
          </a:p>
        </p:txBody>
      </p:sp>
      <p:sp>
        <p:nvSpPr>
          <p:cNvPr id="10" name="텍스트 10"/>
          <p:cNvSpPr txBox="1"/>
          <p:nvPr/>
        </p:nvSpPr>
        <p:spPr>
          <a:xfrm>
            <a:off x="666750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마지막 화면의 'AI 도움요청' 카드를 눌러 펼치기 (평소에는 접힘)</a:t>
            </a:r>
          </a:p>
        </p:txBody>
      </p:sp>
      <p:sp>
        <p:nvSpPr>
          <p:cNvPr id="11" name="텍스트 11"/>
          <p:cNvSpPr txBox="1"/>
          <p:nvPr/>
        </p:nvSpPr>
        <p:spPr>
          <a:xfrm>
            <a:off x="647700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다 쓴 뒤 점검받을 때</a:t>
            </a:r>
          </a:p>
        </p:txBody>
      </p:sp>
      <p:sp>
        <p:nvSpPr>
          <p:cNvPr id="12" name="텍스트 12"/>
          <p:cNvSpPr txBox="1"/>
          <p:nvPr/>
        </p:nvSpPr>
        <p:spPr>
          <a:xfrm>
            <a:off x="3095625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3" name="도형 13"/>
          <p:cNvSpPr/>
          <p:nvPr/>
        </p:nvSpPr>
        <p:spPr>
          <a:xfrm>
            <a:off x="3400425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4" name="도형 14"/>
          <p:cNvSpPr/>
          <p:nvPr/>
        </p:nvSpPr>
        <p:spPr>
          <a:xfrm>
            <a:off x="3400425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5" name="도형 15"/>
          <p:cNvSpPr/>
          <p:nvPr/>
        </p:nvSpPr>
        <p:spPr>
          <a:xfrm>
            <a:off x="3400425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6" name="텍스트 16"/>
          <p:cNvSpPr txBox="1"/>
          <p:nvPr/>
        </p:nvSpPr>
        <p:spPr>
          <a:xfrm>
            <a:off x="3476625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17" name="텍스트 17"/>
          <p:cNvSpPr txBox="1"/>
          <p:nvPr/>
        </p:nvSpPr>
        <p:spPr>
          <a:xfrm>
            <a:off x="3533775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질문문 확인</a:t>
            </a:r>
          </a:p>
        </p:txBody>
      </p:sp>
      <p:sp>
        <p:nvSpPr>
          <p:cNvPr id="18" name="텍스트 18"/>
          <p:cNvSpPr txBox="1"/>
          <p:nvPr/>
        </p:nvSpPr>
        <p:spPr>
          <a:xfrm>
            <a:off x="3533775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입력한 내용으로 질문문 자동 구성 · 필요 시 직접 수정</a:t>
            </a:r>
          </a:p>
        </p:txBody>
      </p:sp>
      <p:sp>
        <p:nvSpPr>
          <p:cNvPr id="19" name="텍스트 19"/>
          <p:cNvSpPr txBox="1"/>
          <p:nvPr/>
        </p:nvSpPr>
        <p:spPr>
          <a:xfrm>
            <a:off x="3514725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이름·팀명은 자동 제외</a:t>
            </a:r>
          </a:p>
        </p:txBody>
      </p:sp>
      <p:sp>
        <p:nvSpPr>
          <p:cNvPr id="20" name="텍스트 20"/>
          <p:cNvSpPr txBox="1"/>
          <p:nvPr/>
        </p:nvSpPr>
        <p:spPr>
          <a:xfrm>
            <a:off x="5962650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1" name="도형 21"/>
          <p:cNvSpPr/>
          <p:nvPr/>
        </p:nvSpPr>
        <p:spPr>
          <a:xfrm>
            <a:off x="6267450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2" name="도형 22"/>
          <p:cNvSpPr/>
          <p:nvPr/>
        </p:nvSpPr>
        <p:spPr>
          <a:xfrm>
            <a:off x="6267450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3" name="도형 23"/>
          <p:cNvSpPr/>
          <p:nvPr/>
        </p:nvSpPr>
        <p:spPr>
          <a:xfrm>
            <a:off x="6267450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24" name="텍스트 24"/>
          <p:cNvSpPr txBox="1"/>
          <p:nvPr/>
        </p:nvSpPr>
        <p:spPr>
          <a:xfrm>
            <a:off x="6343650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5" name="텍스트 25"/>
          <p:cNvSpPr txBox="1"/>
          <p:nvPr/>
        </p:nvSpPr>
        <p:spPr>
          <a:xfrm>
            <a:off x="6400800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AI에 질문</a:t>
            </a:r>
          </a:p>
        </p:txBody>
      </p:sp>
      <p:sp>
        <p:nvSpPr>
          <p:cNvPr id="26" name="텍스트 26"/>
          <p:cNvSpPr txBox="1"/>
          <p:nvPr/>
        </p:nvSpPr>
        <p:spPr>
          <a:xfrm>
            <a:off x="6400800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질문문 복사 후 챗봇에 붙이기 또는 API 키 입력 후 바로 질문</a:t>
            </a:r>
          </a:p>
        </p:txBody>
      </p:sp>
      <p:sp>
        <p:nvSpPr>
          <p:cNvPr id="27" name="텍스트 27"/>
          <p:cNvSpPr txBox="1"/>
          <p:nvPr/>
        </p:nvSpPr>
        <p:spPr>
          <a:xfrm>
            <a:off x="6381750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키는 내 PC에만 저장</a:t>
            </a:r>
          </a:p>
        </p:txBody>
      </p:sp>
      <p:sp>
        <p:nvSpPr>
          <p:cNvPr id="28" name="텍스트 28"/>
          <p:cNvSpPr txBox="1"/>
          <p:nvPr/>
        </p:nvSpPr>
        <p:spPr>
          <a:xfrm>
            <a:off x="8829675" y="3086100"/>
            <a:ext cx="266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59E0B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9" name="도형 29"/>
          <p:cNvSpPr/>
          <p:nvPr/>
        </p:nvSpPr>
        <p:spPr>
          <a:xfrm>
            <a:off x="9134475" y="1409700"/>
            <a:ext cx="2524125" cy="36195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C9D3E6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0" name="도형 30"/>
          <p:cNvSpPr/>
          <p:nvPr/>
        </p:nvSpPr>
        <p:spPr>
          <a:xfrm>
            <a:off x="9134475" y="1409700"/>
            <a:ext cx="2524125" cy="304800"/>
          </a:xfrm>
          <a:prstGeom prst="roundRect">
            <a:avLst>
              <a:gd name="adj" fmla="val 18750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1" name="도형 31"/>
          <p:cNvSpPr/>
          <p:nvPr/>
        </p:nvSpPr>
        <p:spPr>
          <a:xfrm>
            <a:off x="9134475" y="1562100"/>
            <a:ext cx="2524125" cy="152400"/>
          </a:xfrm>
          <a:prstGeom prst="rect">
            <a:avLst/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2" name="텍스트 32"/>
          <p:cNvSpPr txBox="1"/>
          <p:nvPr/>
        </p:nvSpPr>
        <p:spPr>
          <a:xfrm>
            <a:off x="9210675" y="1409700"/>
            <a:ext cx="23717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33" name="텍스트 33"/>
          <p:cNvSpPr txBox="1"/>
          <p:nvPr/>
        </p:nvSpPr>
        <p:spPr>
          <a:xfrm>
            <a:off x="9267825" y="1809750"/>
            <a:ext cx="2257425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 dirty="0">
                <a:solidFill>
                  <a:srgbClr val="16294A"/>
                </a:solidFill>
                <a:latin typeface="맑은 고딕"/>
                <a:ea typeface="맑은 고딕"/>
              </a:rPr>
              <a:t>답변 반영</a:t>
            </a:r>
          </a:p>
        </p:txBody>
      </p:sp>
      <p:sp>
        <p:nvSpPr>
          <p:cNvPr id="34" name="텍스트 34"/>
          <p:cNvSpPr txBox="1"/>
          <p:nvPr/>
        </p:nvSpPr>
        <p:spPr>
          <a:xfrm>
            <a:off x="9267825" y="2952750"/>
            <a:ext cx="2257425" cy="1390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dirty="0">
                <a:solidFill>
                  <a:srgbClr val="6B7A90"/>
                </a:solidFill>
                <a:latin typeface="맑은 고딕"/>
                <a:ea typeface="맑은 고딕"/>
              </a:rPr>
              <a:t>답변 중 쓸 만한 핵심만 골라 내용 보완 · 답변 칸에 붙여 두기</a:t>
            </a:r>
          </a:p>
        </p:txBody>
      </p:sp>
      <p:sp>
        <p:nvSpPr>
          <p:cNvPr id="35" name="텍스트 35"/>
          <p:cNvSpPr txBox="1"/>
          <p:nvPr/>
        </p:nvSpPr>
        <p:spPr>
          <a:xfrm>
            <a:off x="9248775" y="4495800"/>
            <a:ext cx="2295525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E7B58"/>
                </a:solidFill>
                <a:latin typeface="맑은 고딕"/>
                <a:ea typeface="맑은 고딕"/>
              </a:rPr>
              <a:t>예) 최종 판단은 작성자 본인</a:t>
            </a:r>
          </a:p>
        </p:txBody>
      </p:sp>
      <p:sp>
        <p:nvSpPr>
          <p:cNvPr id="36" name="도형 36"/>
          <p:cNvSpPr/>
          <p:nvPr/>
        </p:nvSpPr>
        <p:spPr>
          <a:xfrm>
            <a:off x="533400" y="5772150"/>
            <a:ext cx="11125200" cy="590550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7" name="도형 37"/>
          <p:cNvSpPr/>
          <p:nvPr/>
        </p:nvSpPr>
        <p:spPr>
          <a:xfrm>
            <a:off x="533400" y="577215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8" name="텍스트 38"/>
          <p:cNvSpPr txBox="1"/>
          <p:nvPr/>
        </p:nvSpPr>
        <p:spPr>
          <a:xfrm>
            <a:off x="800100" y="5829300"/>
            <a:ext cx="10668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 dirty="0">
                <a:solidFill>
                  <a:srgbClr val="FFFFFF"/>
                </a:solidFill>
                <a:latin typeface="맑은 고딕"/>
                <a:ea typeface="맑은 고딕"/>
              </a:rPr>
              <a:t>핵심 : AI는 대신 써 주는 도구가 아니라 허점을 짚어 주는 점검 도구임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rgbClr val="000000"/>
      </a:dk1>
      <a:lt1>
        <a:srgbClr val="FFFFFF"/>
      </a:lt1>
      <a:dk2>
        <a:srgbClr val="16294A"/>
      </a:dk2>
      <a:lt2>
        <a:srgbClr val="F8FAFC"/>
      </a:lt2>
      <a:accent1>
        <a:srgbClr val="16294A"/>
      </a:accent1>
      <a:accent2>
        <a:srgbClr val="1E7B58"/>
      </a:accent2>
      <a:accent3>
        <a:srgbClr val="F59E0B"/>
      </a:accent3>
      <a:accent4>
        <a:srgbClr val="C0392B"/>
      </a:accent4>
      <a:accent5>
        <a:srgbClr val="2563EB"/>
      </a:accent5>
      <a:accent6>
        <a:srgbClr val="6D28D9"/>
      </a:accent6>
      <a:hlink>
        <a:srgbClr val="2563EB"/>
      </a:hlink>
      <a:folHlink>
        <a:srgbClr val="6D28D9"/>
      </a:folHlink>
    </a:clrScheme>
    <a:fontScheme name="Deck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8033</Words>
  <Application>Microsoft Office PowerPoint</Application>
  <PresentationFormat>와이드스크린</PresentationFormat>
  <Paragraphs>1329</Paragraphs>
  <Slides>94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97" baseType="lpstr">
      <vt:lpstr>맑은 고딕</vt:lpstr>
      <vt:lpstr>Arial</vt:lpstr>
      <vt:lpstr>Deck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덕화 서</cp:lastModifiedBy>
  <cp:revision>1</cp:revision>
  <dcterms:modified xsi:type="dcterms:W3CDTF">2026-10-27T05:46:50Z</dcterms:modified>
</cp:coreProperties>
</file>